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8138159" y="894080"/>
            <a:ext cx="4023360" cy="497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3000">
                <a:solidFill>
                  <a:srgbClr val="1E1E1E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道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822960" y="852170"/>
            <a:ext cx="100584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200">
                <a:solidFill>
                  <a:srgbClr val="8FD3C0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2026 관광데이터 활용 공모전  ·  생성형 AI 활용 관광 프롬프톤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822960" y="1478279"/>
            <a:ext cx="3840481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5800">
                <a:solidFill>
                  <a:srgbClr val="FFFFFF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도반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2788920" y="1910588"/>
            <a:ext cx="365760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>
                <a:solidFill>
                  <a:srgbClr val="8FD3C0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道伴</a:t>
            </a:r>
            <a:r>
              <a:rPr b="0">
                <a:solidFill>
                  <a:srgbClr val="8C8C8C"/>
                </a:solidFill>
              </a:rPr>
              <a:t>   Doban</a:t>
            </a:r>
          </a:p>
        </p:txBody>
      </p:sp>
      <p:sp>
        <p:nvSpPr>
          <p:cNvPr id="24" name="Shape 4"/>
          <p:cNvSpPr/>
          <p:nvPr/>
        </p:nvSpPr>
        <p:spPr>
          <a:xfrm>
            <a:off x="841247" y="2670048"/>
            <a:ext cx="73153" cy="841249"/>
          </a:xfrm>
          <a:prstGeom prst="rect">
            <a:avLst/>
          </a:prstGeom>
          <a:solidFill>
            <a:srgbClr val="D93A3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Text 5"/>
          <p:cNvSpPr txBox="1"/>
          <p:nvPr/>
        </p:nvSpPr>
        <p:spPr>
          <a:xfrm>
            <a:off x="1097279" y="2814320"/>
            <a:ext cx="6583682" cy="589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2000"/>
              </a:lnSpc>
              <a:defRPr b="1" sz="14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‘같은 길을 함께 걷는 동반자’</a:t>
            </a:r>
          </a:p>
          <a:p>
            <a:pPr>
              <a:lnSpc>
                <a:spcPct val="132000"/>
              </a:lnSpc>
              <a:defRPr sz="1400">
                <a:solidFill>
                  <a:srgbClr val="DDDDDD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관광 데이터를 길잡이 삼아, 창업의 길을 함께 살피는 동반자가 됩니다.</a:t>
            </a:r>
          </a:p>
        </p:txBody>
      </p:sp>
      <p:sp>
        <p:nvSpPr>
          <p:cNvPr id="26" name="Text 6"/>
          <p:cNvSpPr txBox="1"/>
          <p:nvPr/>
        </p:nvSpPr>
        <p:spPr>
          <a:xfrm>
            <a:off x="822959" y="3895089"/>
            <a:ext cx="7498082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700">
                <a:solidFill>
                  <a:srgbClr val="FFFFFF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관광 데이터 기반 지역 창업 분석 챗봇</a:t>
            </a:r>
          </a:p>
        </p:txBody>
      </p:sp>
      <p:sp>
        <p:nvSpPr>
          <p:cNvPr id="27" name="Text 7"/>
          <p:cNvSpPr txBox="1"/>
          <p:nvPr/>
        </p:nvSpPr>
        <p:spPr>
          <a:xfrm>
            <a:off x="822959" y="4551934"/>
            <a:ext cx="749808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지역과 업종을 입력하면, 흩어진 공공 관광 데이터를 한 편의 미니 컨설팅 리포트로 정리합니다.</a:t>
            </a:r>
          </a:p>
        </p:txBody>
      </p:sp>
      <p:sp>
        <p:nvSpPr>
          <p:cNvPr id="28" name="Shape 8"/>
          <p:cNvSpPr/>
          <p:nvPr/>
        </p:nvSpPr>
        <p:spPr>
          <a:xfrm>
            <a:off x="822960" y="5486400"/>
            <a:ext cx="6766561" cy="0"/>
          </a:xfrm>
          <a:prstGeom prst="line">
            <a:avLst/>
          </a:prstGeom>
          <a:ln w="12700">
            <a:solidFill>
              <a:srgbClr val="34343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9"/>
          <p:cNvSpPr txBox="1"/>
          <p:nvPr/>
        </p:nvSpPr>
        <p:spPr>
          <a:xfrm>
            <a:off x="822960" y="5731509"/>
            <a:ext cx="7315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제출일  </a:t>
            </a:r>
            <a:r>
              <a:rPr b="0">
                <a:solidFill>
                  <a:srgbClr val="FFFFFF"/>
                </a:solidFill>
              </a:rPr>
              <a:t>2026. 06. 09.</a:t>
            </a:r>
            <a:r>
              <a:t>        팀  </a:t>
            </a:r>
            <a:r>
              <a:rPr>
                <a:solidFill>
                  <a:srgbClr val="FFFFFF"/>
                </a:solidFill>
              </a:rPr>
              <a:t>도반</a:t>
            </a:r>
            <a:r>
              <a:rPr b="0">
                <a:solidFill>
                  <a:srgbClr val="DDDDDD"/>
                </a:solidFill>
              </a:rPr>
              <a:t>   전민정 · 안중현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 txBox="1"/>
          <p:nvPr/>
        </p:nvSpPr>
        <p:spPr>
          <a:xfrm>
            <a:off x="640080" y="605281"/>
            <a:ext cx="82296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pc="100" sz="1200">
                <a:solidFill>
                  <a:srgbClr val="D93A32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01</a:t>
            </a:r>
            <a:r>
              <a:rPr>
                <a:solidFill>
                  <a:srgbClr val="6E6E6E"/>
                </a:solidFill>
              </a:rPr>
              <a:t>   TEAM</a:t>
            </a:r>
          </a:p>
        </p:txBody>
      </p:sp>
      <p:sp>
        <p:nvSpPr>
          <p:cNvPr id="32" name="Text 1"/>
          <p:cNvSpPr txBox="1"/>
          <p:nvPr/>
        </p:nvSpPr>
        <p:spPr>
          <a:xfrm>
            <a:off x="640079" y="1024127"/>
            <a:ext cx="10911537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100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팀 소개</a:t>
            </a:r>
          </a:p>
        </p:txBody>
      </p:sp>
      <p:sp>
        <p:nvSpPr>
          <p:cNvPr id="33" name="Shape 2"/>
          <p:cNvSpPr/>
          <p:nvPr/>
        </p:nvSpPr>
        <p:spPr>
          <a:xfrm>
            <a:off x="640080" y="1874520"/>
            <a:ext cx="54865" cy="1691641"/>
          </a:xfrm>
          <a:prstGeom prst="rect">
            <a:avLst/>
          </a:prstGeom>
          <a:solidFill>
            <a:srgbClr val="1581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Text 3"/>
          <p:cNvSpPr txBox="1"/>
          <p:nvPr/>
        </p:nvSpPr>
        <p:spPr>
          <a:xfrm>
            <a:off x="932687" y="1959610"/>
            <a:ext cx="443484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참여 계기</a:t>
            </a:r>
          </a:p>
        </p:txBody>
      </p:sp>
      <p:sp>
        <p:nvSpPr>
          <p:cNvPr id="35" name="Text 4"/>
          <p:cNvSpPr txBox="1"/>
          <p:nvPr/>
        </p:nvSpPr>
        <p:spPr>
          <a:xfrm>
            <a:off x="932687" y="2621152"/>
            <a:ext cx="4434842" cy="554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300">
                <a:solidFill>
                  <a:srgbClr val="6E6E6E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관광 데이터를 단순 여행 추천이 아니라, 지역 창업과 소상공인의 의사결정에 연결해보고자 참여했습니다.</a:t>
            </a:r>
          </a:p>
        </p:txBody>
      </p:sp>
      <p:sp>
        <p:nvSpPr>
          <p:cNvPr id="36" name="Shape 5"/>
          <p:cNvSpPr/>
          <p:nvPr/>
        </p:nvSpPr>
        <p:spPr>
          <a:xfrm>
            <a:off x="640080" y="3794759"/>
            <a:ext cx="54865" cy="1691641"/>
          </a:xfrm>
          <a:prstGeom prst="rect">
            <a:avLst/>
          </a:prstGeom>
          <a:solidFill>
            <a:srgbClr val="1581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Text 6"/>
          <p:cNvSpPr txBox="1"/>
          <p:nvPr/>
        </p:nvSpPr>
        <p:spPr>
          <a:xfrm>
            <a:off x="932687" y="3879849"/>
            <a:ext cx="4434842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팀 운영 방식</a:t>
            </a:r>
          </a:p>
        </p:txBody>
      </p:sp>
      <p:sp>
        <p:nvSpPr>
          <p:cNvPr id="38" name="Text 7"/>
          <p:cNvSpPr txBox="1"/>
          <p:nvPr/>
        </p:nvSpPr>
        <p:spPr>
          <a:xfrm>
            <a:off x="932687" y="4541392"/>
            <a:ext cx="4434842" cy="554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0000"/>
              </a:lnSpc>
              <a:defRPr sz="1300">
                <a:solidFill>
                  <a:srgbClr val="6E6E6E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서비스 기획부터 OpenAPI 활용 구조, 프롬프트 설계, 엔노이아 구현까지 두 사람이 함께 진행했습니다.</a:t>
            </a:r>
          </a:p>
        </p:txBody>
      </p:sp>
      <p:sp>
        <p:nvSpPr>
          <p:cNvPr id="39" name="Shape 8"/>
          <p:cNvSpPr/>
          <p:nvPr/>
        </p:nvSpPr>
        <p:spPr>
          <a:xfrm>
            <a:off x="5989320" y="1874520"/>
            <a:ext cx="5562296" cy="1691641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Shape 9"/>
          <p:cNvSpPr/>
          <p:nvPr/>
        </p:nvSpPr>
        <p:spPr>
          <a:xfrm>
            <a:off x="6355079" y="2285999"/>
            <a:ext cx="868681" cy="868682"/>
          </a:xfrm>
          <a:prstGeom prst="ellipse">
            <a:avLst/>
          </a:prstGeom>
          <a:solidFill>
            <a:srgbClr val="1616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" name="Text 10"/>
          <p:cNvSpPr txBox="1"/>
          <p:nvPr/>
        </p:nvSpPr>
        <p:spPr>
          <a:xfrm>
            <a:off x="6355079" y="2517139"/>
            <a:ext cx="86868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800">
                <a:solidFill>
                  <a:srgbClr val="FFFFFF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전</a:t>
            </a:r>
          </a:p>
        </p:txBody>
      </p:sp>
      <p:sp>
        <p:nvSpPr>
          <p:cNvPr id="42" name="Text 11"/>
          <p:cNvSpPr txBox="1"/>
          <p:nvPr/>
        </p:nvSpPr>
        <p:spPr>
          <a:xfrm>
            <a:off x="7452359" y="2262378"/>
            <a:ext cx="3824936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전민정</a:t>
            </a:r>
          </a:p>
        </p:txBody>
      </p:sp>
      <p:sp>
        <p:nvSpPr>
          <p:cNvPr id="43" name="Text 12"/>
          <p:cNvSpPr txBox="1"/>
          <p:nvPr/>
        </p:nvSpPr>
        <p:spPr>
          <a:xfrm>
            <a:off x="7452359" y="2662681"/>
            <a:ext cx="382493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5816B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서비스 기획 · 개발</a:t>
            </a:r>
          </a:p>
        </p:txBody>
      </p:sp>
      <p:sp>
        <p:nvSpPr>
          <p:cNvPr id="44" name="Text 13"/>
          <p:cNvSpPr txBox="1"/>
          <p:nvPr/>
        </p:nvSpPr>
        <p:spPr>
          <a:xfrm>
            <a:off x="7452359" y="2991103"/>
            <a:ext cx="3779216" cy="436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6E6E6E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서비스 기획, 시스템 프롬프트 설계 및 튜닝, </a:t>
            </a:r>
          </a:p>
          <a:p>
            <a:pPr>
              <a:lnSpc>
                <a:spcPct val="115000"/>
              </a:lnSpc>
              <a:defRPr sz="1100">
                <a:solidFill>
                  <a:srgbClr val="6E6E6E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OpenAPI 발급/등록, 엔노이아 구현</a:t>
            </a:r>
          </a:p>
        </p:txBody>
      </p:sp>
      <p:sp>
        <p:nvSpPr>
          <p:cNvPr id="45" name="Shape 14"/>
          <p:cNvSpPr/>
          <p:nvPr/>
        </p:nvSpPr>
        <p:spPr>
          <a:xfrm>
            <a:off x="5989320" y="3794759"/>
            <a:ext cx="5562296" cy="1691641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Shape 15"/>
          <p:cNvSpPr/>
          <p:nvPr/>
        </p:nvSpPr>
        <p:spPr>
          <a:xfrm>
            <a:off x="6355079" y="4206240"/>
            <a:ext cx="868681" cy="868681"/>
          </a:xfrm>
          <a:prstGeom prst="ellipse">
            <a:avLst/>
          </a:prstGeom>
          <a:solidFill>
            <a:srgbClr val="1616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Text 16"/>
          <p:cNvSpPr txBox="1"/>
          <p:nvPr/>
        </p:nvSpPr>
        <p:spPr>
          <a:xfrm>
            <a:off x="6355079" y="4437380"/>
            <a:ext cx="86868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800">
                <a:solidFill>
                  <a:srgbClr val="FFFFFF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안</a:t>
            </a:r>
          </a:p>
        </p:txBody>
      </p:sp>
      <p:sp>
        <p:nvSpPr>
          <p:cNvPr id="48" name="Text 17"/>
          <p:cNvSpPr txBox="1"/>
          <p:nvPr/>
        </p:nvSpPr>
        <p:spPr>
          <a:xfrm>
            <a:off x="7452359" y="4182618"/>
            <a:ext cx="3824936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안중현</a:t>
            </a:r>
          </a:p>
        </p:txBody>
      </p:sp>
      <p:sp>
        <p:nvSpPr>
          <p:cNvPr id="49" name="Text 18"/>
          <p:cNvSpPr txBox="1"/>
          <p:nvPr/>
        </p:nvSpPr>
        <p:spPr>
          <a:xfrm>
            <a:off x="7452359" y="4582921"/>
            <a:ext cx="382493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5816B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서비스 기획 · 개발</a:t>
            </a:r>
          </a:p>
        </p:txBody>
      </p:sp>
      <p:sp>
        <p:nvSpPr>
          <p:cNvPr id="50" name="Text 19"/>
          <p:cNvSpPr txBox="1"/>
          <p:nvPr/>
        </p:nvSpPr>
        <p:spPr>
          <a:xfrm>
            <a:off x="7452359" y="4911344"/>
            <a:ext cx="3779216" cy="436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6E6E6E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서비스 기획, OpenAPI 발급/등록, 데이터 업로드, </a:t>
            </a:r>
          </a:p>
          <a:p>
            <a:pPr>
              <a:lnSpc>
                <a:spcPct val="115000"/>
              </a:lnSpc>
              <a:defRPr sz="1100">
                <a:solidFill>
                  <a:srgbClr val="6E6E6E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엔노이아 구현 및 테스트</a:t>
            </a:r>
          </a:p>
        </p:txBody>
      </p:sp>
      <p:sp>
        <p:nvSpPr>
          <p:cNvPr id="51" name="Text 20"/>
          <p:cNvSpPr txBox="1"/>
          <p:nvPr/>
        </p:nvSpPr>
        <p:spPr>
          <a:xfrm>
            <a:off x="640080" y="6468110"/>
            <a:ext cx="2743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9A9A9A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도반(Doban)</a:t>
            </a:r>
          </a:p>
        </p:txBody>
      </p:sp>
      <p:sp>
        <p:nvSpPr>
          <p:cNvPr id="52" name="Text 21"/>
          <p:cNvSpPr txBox="1"/>
          <p:nvPr/>
        </p:nvSpPr>
        <p:spPr>
          <a:xfrm>
            <a:off x="10637215" y="6468110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9A9A9A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2 / 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 txBox="1"/>
          <p:nvPr/>
        </p:nvSpPr>
        <p:spPr>
          <a:xfrm>
            <a:off x="640080" y="605281"/>
            <a:ext cx="82296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pc="100" sz="1200">
                <a:solidFill>
                  <a:srgbClr val="D93A32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02</a:t>
            </a:r>
            <a:r>
              <a:rPr>
                <a:solidFill>
                  <a:srgbClr val="6E6E6E"/>
                </a:solidFill>
              </a:rPr>
              <a:t>   OVERVIEW</a:t>
            </a:r>
          </a:p>
        </p:txBody>
      </p:sp>
      <p:sp>
        <p:nvSpPr>
          <p:cNvPr id="55" name="Text 1"/>
          <p:cNvSpPr txBox="1"/>
          <p:nvPr/>
        </p:nvSpPr>
        <p:spPr>
          <a:xfrm>
            <a:off x="640079" y="1024127"/>
            <a:ext cx="10911537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100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서비스 소개</a:t>
            </a:r>
          </a:p>
        </p:txBody>
      </p:sp>
      <p:sp>
        <p:nvSpPr>
          <p:cNvPr id="56" name="Shape 2"/>
          <p:cNvSpPr/>
          <p:nvPr/>
        </p:nvSpPr>
        <p:spPr>
          <a:xfrm>
            <a:off x="640079" y="1627632"/>
            <a:ext cx="10911537" cy="1325881"/>
          </a:xfrm>
          <a:prstGeom prst="rect">
            <a:avLst/>
          </a:prstGeom>
          <a:solidFill>
            <a:srgbClr val="1616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" name="Shape 3"/>
          <p:cNvSpPr/>
          <p:nvPr/>
        </p:nvSpPr>
        <p:spPr>
          <a:xfrm>
            <a:off x="640080" y="1627632"/>
            <a:ext cx="73153" cy="1325881"/>
          </a:xfrm>
          <a:prstGeom prst="rect">
            <a:avLst/>
          </a:prstGeom>
          <a:solidFill>
            <a:srgbClr val="D93A3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Text 4"/>
          <p:cNvSpPr txBox="1"/>
          <p:nvPr/>
        </p:nvSpPr>
        <p:spPr>
          <a:xfrm>
            <a:off x="1005839" y="1882901"/>
            <a:ext cx="10180016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8FD3C0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도반(Doban) · 관광 데이터 기반 지역 창업 분석 챗봇</a:t>
            </a:r>
          </a:p>
        </p:txBody>
      </p:sp>
      <p:sp>
        <p:nvSpPr>
          <p:cNvPr id="59" name="Text 5"/>
          <p:cNvSpPr txBox="1"/>
          <p:nvPr/>
        </p:nvSpPr>
        <p:spPr>
          <a:xfrm>
            <a:off x="1005839" y="2442463"/>
            <a:ext cx="10180016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400">
                <a:solidFill>
                  <a:srgbClr val="DDDDDD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지역명·관광지명·관심 업종을 입력하면 한국관광공사 OpenAPI를 호출해, 지역 관광 흐름과 창업 기회를 미니 컨설팅 리포트로 제공합니다.</a:t>
            </a:r>
          </a:p>
        </p:txBody>
      </p:sp>
      <p:sp>
        <p:nvSpPr>
          <p:cNvPr id="60" name="Text 6"/>
          <p:cNvSpPr txBox="1"/>
          <p:nvPr/>
        </p:nvSpPr>
        <p:spPr>
          <a:xfrm>
            <a:off x="640079" y="3372358"/>
            <a:ext cx="522717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주제 선정 이유</a:t>
            </a:r>
          </a:p>
        </p:txBody>
      </p:sp>
      <p:sp>
        <p:nvSpPr>
          <p:cNvPr id="61" name="Shape 7"/>
          <p:cNvSpPr/>
          <p:nvPr/>
        </p:nvSpPr>
        <p:spPr>
          <a:xfrm>
            <a:off x="640079" y="3703320"/>
            <a:ext cx="5227170" cy="1"/>
          </a:xfrm>
          <a:prstGeom prst="line">
            <a:avLst/>
          </a:prstGeom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8"/>
          <p:cNvSpPr txBox="1"/>
          <p:nvPr/>
        </p:nvSpPr>
        <p:spPr>
          <a:xfrm>
            <a:off x="640080" y="4284979"/>
            <a:ext cx="5044288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35000"/>
              </a:lnSpc>
              <a:defRPr sz="1400">
                <a:solidFill>
                  <a:srgbClr val="6E6E6E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예비창업자와 소상공인은 방문자 규모, 소비 가능성, 관광 동선, 자원 수요를 한 번에 파악하기 어렵습니다. 도반은 흩어진 공공 관광 데이터를 한 번의 질문으로 연결합니다.</a:t>
            </a:r>
          </a:p>
        </p:txBody>
      </p:sp>
      <p:sp>
        <p:nvSpPr>
          <p:cNvPr id="63" name="Text 9"/>
          <p:cNvSpPr txBox="1"/>
          <p:nvPr/>
        </p:nvSpPr>
        <p:spPr>
          <a:xfrm>
            <a:off x="6324447" y="3372358"/>
            <a:ext cx="522717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타겟 사용자</a:t>
            </a:r>
          </a:p>
        </p:txBody>
      </p:sp>
      <p:sp>
        <p:nvSpPr>
          <p:cNvPr id="64" name="Shape 10"/>
          <p:cNvSpPr/>
          <p:nvPr/>
        </p:nvSpPr>
        <p:spPr>
          <a:xfrm>
            <a:off x="6324447" y="3703320"/>
            <a:ext cx="5227170" cy="1"/>
          </a:xfrm>
          <a:prstGeom prst="line">
            <a:avLst/>
          </a:prstGeom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Shape 11"/>
          <p:cNvSpPr/>
          <p:nvPr/>
        </p:nvSpPr>
        <p:spPr>
          <a:xfrm>
            <a:off x="6324448" y="4005071"/>
            <a:ext cx="118872" cy="118872"/>
          </a:xfrm>
          <a:prstGeom prst="rect">
            <a:avLst/>
          </a:prstGeom>
          <a:solidFill>
            <a:srgbClr val="9FD8C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12"/>
          <p:cNvSpPr txBox="1"/>
          <p:nvPr/>
        </p:nvSpPr>
        <p:spPr>
          <a:xfrm>
            <a:off x="6617055" y="3942079"/>
            <a:ext cx="4861409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1C1C1C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국내 예비창업자</a:t>
            </a:r>
          </a:p>
        </p:txBody>
      </p:sp>
      <p:sp>
        <p:nvSpPr>
          <p:cNvPr id="67" name="Shape 13"/>
          <p:cNvSpPr/>
          <p:nvPr/>
        </p:nvSpPr>
        <p:spPr>
          <a:xfrm>
            <a:off x="6324448" y="4480559"/>
            <a:ext cx="118872" cy="118872"/>
          </a:xfrm>
          <a:prstGeom prst="rect">
            <a:avLst/>
          </a:prstGeom>
          <a:solidFill>
            <a:srgbClr val="9FD8C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14"/>
          <p:cNvSpPr txBox="1"/>
          <p:nvPr/>
        </p:nvSpPr>
        <p:spPr>
          <a:xfrm>
            <a:off x="6617055" y="4417568"/>
            <a:ext cx="4861409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1C1C1C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관광 상권의 기존 소상공인</a:t>
            </a:r>
          </a:p>
        </p:txBody>
      </p:sp>
      <p:sp>
        <p:nvSpPr>
          <p:cNvPr id="69" name="Shape 15"/>
          <p:cNvSpPr/>
          <p:nvPr/>
        </p:nvSpPr>
        <p:spPr>
          <a:xfrm>
            <a:off x="6324448" y="4956047"/>
            <a:ext cx="118872" cy="118872"/>
          </a:xfrm>
          <a:prstGeom prst="rect">
            <a:avLst/>
          </a:prstGeom>
          <a:solidFill>
            <a:srgbClr val="9FD8C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" name="Text 16"/>
          <p:cNvSpPr txBox="1"/>
          <p:nvPr/>
        </p:nvSpPr>
        <p:spPr>
          <a:xfrm>
            <a:off x="6617055" y="4893056"/>
            <a:ext cx="4861409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1C1C1C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로컬 창업자 및 로컬 크리에이터</a:t>
            </a:r>
          </a:p>
        </p:txBody>
      </p:sp>
      <p:sp>
        <p:nvSpPr>
          <p:cNvPr id="71" name="Shape 17"/>
          <p:cNvSpPr/>
          <p:nvPr/>
        </p:nvSpPr>
        <p:spPr>
          <a:xfrm>
            <a:off x="6324448" y="5431535"/>
            <a:ext cx="118872" cy="118872"/>
          </a:xfrm>
          <a:prstGeom prst="rect">
            <a:avLst/>
          </a:prstGeom>
          <a:solidFill>
            <a:srgbClr val="9FD8C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Text 18"/>
          <p:cNvSpPr txBox="1"/>
          <p:nvPr/>
        </p:nvSpPr>
        <p:spPr>
          <a:xfrm>
            <a:off x="6617055" y="5368544"/>
            <a:ext cx="4861409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1C1C1C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지자체·관광 유관기관 담당자</a:t>
            </a:r>
          </a:p>
        </p:txBody>
      </p:sp>
      <p:sp>
        <p:nvSpPr>
          <p:cNvPr id="73" name="Text 19"/>
          <p:cNvSpPr txBox="1"/>
          <p:nvPr/>
        </p:nvSpPr>
        <p:spPr>
          <a:xfrm>
            <a:off x="640080" y="6468110"/>
            <a:ext cx="2743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9A9A9A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도반(Doban)</a:t>
            </a:r>
          </a:p>
        </p:txBody>
      </p:sp>
      <p:sp>
        <p:nvSpPr>
          <p:cNvPr id="74" name="Text 20"/>
          <p:cNvSpPr txBox="1"/>
          <p:nvPr/>
        </p:nvSpPr>
        <p:spPr>
          <a:xfrm>
            <a:off x="10637215" y="6468110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9A9A9A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3 / 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0"/>
          <p:cNvSpPr txBox="1"/>
          <p:nvPr/>
        </p:nvSpPr>
        <p:spPr>
          <a:xfrm>
            <a:off x="640080" y="605281"/>
            <a:ext cx="82296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pc="100" sz="1200">
                <a:solidFill>
                  <a:srgbClr val="D93A32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03</a:t>
            </a:r>
            <a:r>
              <a:rPr>
                <a:solidFill>
                  <a:srgbClr val="6E6E6E"/>
                </a:solidFill>
              </a:rPr>
              <a:t>   VALUE &amp; FEATURES</a:t>
            </a:r>
          </a:p>
        </p:txBody>
      </p:sp>
      <p:sp>
        <p:nvSpPr>
          <p:cNvPr id="77" name="Text 1"/>
          <p:cNvSpPr txBox="1"/>
          <p:nvPr/>
        </p:nvSpPr>
        <p:spPr>
          <a:xfrm>
            <a:off x="640079" y="1024127"/>
            <a:ext cx="10911537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100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한 줄 요약과 핵심 기능</a:t>
            </a:r>
          </a:p>
        </p:txBody>
      </p:sp>
      <p:sp>
        <p:nvSpPr>
          <p:cNvPr id="78" name="Shape 2"/>
          <p:cNvSpPr/>
          <p:nvPr/>
        </p:nvSpPr>
        <p:spPr>
          <a:xfrm>
            <a:off x="640079" y="1627632"/>
            <a:ext cx="10911537" cy="1188721"/>
          </a:xfrm>
          <a:prstGeom prst="rect">
            <a:avLst/>
          </a:prstGeom>
          <a:solidFill>
            <a:srgbClr val="EAF5F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3"/>
          <p:cNvSpPr txBox="1"/>
          <p:nvPr/>
        </p:nvSpPr>
        <p:spPr>
          <a:xfrm>
            <a:off x="973816" y="2069592"/>
            <a:ext cx="10289783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b="1" sz="2100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pPr>
            <a:r>
              <a:t>우리는 </a:t>
            </a:r>
            <a:r>
              <a:rPr>
                <a:solidFill>
                  <a:srgbClr val="D93A32"/>
                </a:solidFill>
              </a:rPr>
              <a:t>관광 상권 창업 판단의 어려움</a:t>
            </a:r>
            <a:r>
              <a:t>을 </a:t>
            </a:r>
            <a:r>
              <a:rPr>
                <a:solidFill>
                  <a:srgbClr val="15816B"/>
                </a:solidFill>
              </a:rPr>
              <a:t>OpenAPI 기반 미니 컨설팅 리포트</a:t>
            </a:r>
            <a:r>
              <a:t>로 해결합니다.</a:t>
            </a:r>
          </a:p>
        </p:txBody>
      </p:sp>
      <p:sp>
        <p:nvSpPr>
          <p:cNvPr id="80" name="Shape 4"/>
          <p:cNvSpPr/>
          <p:nvPr/>
        </p:nvSpPr>
        <p:spPr>
          <a:xfrm>
            <a:off x="640079" y="3154679"/>
            <a:ext cx="3423820" cy="2971801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1" name="Shape 5"/>
          <p:cNvSpPr/>
          <p:nvPr/>
        </p:nvSpPr>
        <p:spPr>
          <a:xfrm>
            <a:off x="640079" y="3154679"/>
            <a:ext cx="3423820" cy="64009"/>
          </a:xfrm>
          <a:prstGeom prst="rect">
            <a:avLst/>
          </a:prstGeom>
          <a:solidFill>
            <a:srgbClr val="1581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Text 6"/>
          <p:cNvSpPr txBox="1"/>
          <p:nvPr/>
        </p:nvSpPr>
        <p:spPr>
          <a:xfrm>
            <a:off x="1005839" y="3456939"/>
            <a:ext cx="146304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9FD8C6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01</a:t>
            </a:r>
          </a:p>
        </p:txBody>
      </p:sp>
      <p:pic>
        <p:nvPicPr>
          <p:cNvPr id="8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95217" y="3520440"/>
            <a:ext cx="457201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84" name="Text 7"/>
          <p:cNvSpPr txBox="1"/>
          <p:nvPr/>
        </p:nvSpPr>
        <p:spPr>
          <a:xfrm>
            <a:off x="1005839" y="4392929"/>
            <a:ext cx="269229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지역 확인</a:t>
            </a:r>
          </a:p>
        </p:txBody>
      </p:sp>
      <p:sp>
        <p:nvSpPr>
          <p:cNvPr id="85" name="Shape 8"/>
          <p:cNvSpPr/>
          <p:nvPr/>
        </p:nvSpPr>
        <p:spPr>
          <a:xfrm>
            <a:off x="1005839" y="4800600"/>
            <a:ext cx="457201" cy="0"/>
          </a:xfrm>
          <a:prstGeom prst="line">
            <a:avLst/>
          </a:prstGeom>
          <a:ln w="25400">
            <a:solidFill>
              <a:srgbClr val="D93A3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Text 9"/>
          <p:cNvSpPr txBox="1"/>
          <p:nvPr/>
        </p:nvSpPr>
        <p:spPr>
          <a:xfrm>
            <a:off x="1005839" y="5169216"/>
            <a:ext cx="2798618" cy="542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5000"/>
              </a:lnSpc>
              <a:defRPr sz="1300">
                <a:solidFill>
                  <a:srgbClr val="6E6E6E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지역명과 관광지명을 구분하고, </a:t>
            </a:r>
          </a:p>
          <a:p>
            <a:pPr>
              <a:lnSpc>
                <a:spcPct val="125000"/>
              </a:lnSpc>
              <a:defRPr sz="1300">
                <a:solidFill>
                  <a:srgbClr val="6E6E6E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분석 가능한 행정구역 코드로 변환합니다.</a:t>
            </a:r>
          </a:p>
        </p:txBody>
      </p:sp>
      <p:sp>
        <p:nvSpPr>
          <p:cNvPr id="87" name="Shape 10"/>
          <p:cNvSpPr/>
          <p:nvPr/>
        </p:nvSpPr>
        <p:spPr>
          <a:xfrm>
            <a:off x="4383937" y="3154679"/>
            <a:ext cx="3423819" cy="2971801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Shape 11"/>
          <p:cNvSpPr/>
          <p:nvPr/>
        </p:nvSpPr>
        <p:spPr>
          <a:xfrm>
            <a:off x="4383937" y="3154679"/>
            <a:ext cx="3423819" cy="64009"/>
          </a:xfrm>
          <a:prstGeom prst="rect">
            <a:avLst/>
          </a:prstGeom>
          <a:solidFill>
            <a:srgbClr val="1581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12"/>
          <p:cNvSpPr txBox="1"/>
          <p:nvPr/>
        </p:nvSpPr>
        <p:spPr>
          <a:xfrm>
            <a:off x="4749698" y="3456939"/>
            <a:ext cx="146304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9FD8C6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02</a:t>
            </a:r>
          </a:p>
        </p:txBody>
      </p:sp>
      <p:pic>
        <p:nvPicPr>
          <p:cNvPr id="90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939077" y="3520440"/>
            <a:ext cx="457201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Text 13"/>
          <p:cNvSpPr txBox="1"/>
          <p:nvPr/>
        </p:nvSpPr>
        <p:spPr>
          <a:xfrm>
            <a:off x="4749698" y="4392929"/>
            <a:ext cx="269229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데이터 조합</a:t>
            </a:r>
          </a:p>
        </p:txBody>
      </p:sp>
      <p:sp>
        <p:nvSpPr>
          <p:cNvPr id="92" name="Shape 14"/>
          <p:cNvSpPr/>
          <p:nvPr/>
        </p:nvSpPr>
        <p:spPr>
          <a:xfrm>
            <a:off x="4749698" y="4800600"/>
            <a:ext cx="457201" cy="0"/>
          </a:xfrm>
          <a:prstGeom prst="line">
            <a:avLst/>
          </a:prstGeom>
          <a:ln w="25400">
            <a:solidFill>
              <a:srgbClr val="D93A3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Text 15"/>
          <p:cNvSpPr txBox="1"/>
          <p:nvPr/>
        </p:nvSpPr>
        <p:spPr>
          <a:xfrm>
            <a:off x="4749698" y="5169216"/>
            <a:ext cx="2738019" cy="542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5000"/>
              </a:lnSpc>
              <a:defRPr sz="1300">
                <a:solidFill>
                  <a:srgbClr val="6E6E6E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방문자·체류·소비·관광 자원·동선·</a:t>
            </a:r>
          </a:p>
          <a:p>
            <a:pPr>
              <a:lnSpc>
                <a:spcPct val="125000"/>
              </a:lnSpc>
              <a:defRPr sz="1300">
                <a:solidFill>
                  <a:srgbClr val="6E6E6E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웰니스 데이터를 함께 해석합니다.</a:t>
            </a:r>
          </a:p>
        </p:txBody>
      </p:sp>
      <p:sp>
        <p:nvSpPr>
          <p:cNvPr id="94" name="Shape 16"/>
          <p:cNvSpPr/>
          <p:nvPr/>
        </p:nvSpPr>
        <p:spPr>
          <a:xfrm>
            <a:off x="8127796" y="3154679"/>
            <a:ext cx="3423819" cy="2971801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Shape 17"/>
          <p:cNvSpPr/>
          <p:nvPr/>
        </p:nvSpPr>
        <p:spPr>
          <a:xfrm>
            <a:off x="8127796" y="3154679"/>
            <a:ext cx="3423819" cy="64009"/>
          </a:xfrm>
          <a:prstGeom prst="rect">
            <a:avLst/>
          </a:prstGeom>
          <a:solidFill>
            <a:srgbClr val="1581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Text 18"/>
          <p:cNvSpPr txBox="1"/>
          <p:nvPr/>
        </p:nvSpPr>
        <p:spPr>
          <a:xfrm>
            <a:off x="8493556" y="3456939"/>
            <a:ext cx="146304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9FD8C6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03</a:t>
            </a:r>
          </a:p>
        </p:txBody>
      </p:sp>
      <p:pic>
        <p:nvPicPr>
          <p:cNvPr id="97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682934" y="3520440"/>
            <a:ext cx="457201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Text 19"/>
          <p:cNvSpPr txBox="1"/>
          <p:nvPr/>
        </p:nvSpPr>
        <p:spPr>
          <a:xfrm>
            <a:off x="8493556" y="4392929"/>
            <a:ext cx="2692299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창업 제안</a:t>
            </a:r>
          </a:p>
        </p:txBody>
      </p:sp>
      <p:sp>
        <p:nvSpPr>
          <p:cNvPr id="99" name="Shape 20"/>
          <p:cNvSpPr/>
          <p:nvPr/>
        </p:nvSpPr>
        <p:spPr>
          <a:xfrm>
            <a:off x="8493556" y="4800600"/>
            <a:ext cx="457201" cy="0"/>
          </a:xfrm>
          <a:prstGeom prst="line">
            <a:avLst/>
          </a:prstGeom>
          <a:ln w="25400">
            <a:solidFill>
              <a:srgbClr val="D93A3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Text 21"/>
          <p:cNvSpPr txBox="1"/>
          <p:nvPr/>
        </p:nvSpPr>
        <p:spPr>
          <a:xfrm>
            <a:off x="8493556" y="5169216"/>
            <a:ext cx="2738019" cy="542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5000"/>
              </a:lnSpc>
              <a:defRPr sz="1300">
                <a:solidFill>
                  <a:srgbClr val="6E6E6E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창업 아이템을 추천하고, 리스크와 </a:t>
            </a:r>
          </a:p>
          <a:p>
            <a:pPr>
              <a:lnSpc>
                <a:spcPct val="125000"/>
              </a:lnSpc>
              <a:defRPr sz="1300">
                <a:solidFill>
                  <a:srgbClr val="6E6E6E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추가 확인사항을 함께 제시합니다.</a:t>
            </a:r>
          </a:p>
        </p:txBody>
      </p:sp>
      <p:sp>
        <p:nvSpPr>
          <p:cNvPr id="101" name="Text 22"/>
          <p:cNvSpPr txBox="1"/>
          <p:nvPr/>
        </p:nvSpPr>
        <p:spPr>
          <a:xfrm>
            <a:off x="640080" y="6468110"/>
            <a:ext cx="2743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9A9A9A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도반(Doban)</a:t>
            </a:r>
          </a:p>
        </p:txBody>
      </p:sp>
      <p:sp>
        <p:nvSpPr>
          <p:cNvPr id="102" name="Text 23"/>
          <p:cNvSpPr txBox="1"/>
          <p:nvPr/>
        </p:nvSpPr>
        <p:spPr>
          <a:xfrm>
            <a:off x="10637215" y="6468110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9A9A9A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4 / 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 txBox="1"/>
          <p:nvPr/>
        </p:nvSpPr>
        <p:spPr>
          <a:xfrm>
            <a:off x="640080" y="605281"/>
            <a:ext cx="82296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pc="100" sz="1200">
                <a:solidFill>
                  <a:srgbClr val="D93A32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04</a:t>
            </a:r>
            <a:r>
              <a:rPr>
                <a:solidFill>
                  <a:srgbClr val="6E6E6E"/>
                </a:solidFill>
              </a:rPr>
              <a:t>   INPUT · OUTPUT</a:t>
            </a:r>
          </a:p>
        </p:txBody>
      </p:sp>
      <p:sp>
        <p:nvSpPr>
          <p:cNvPr id="105" name="Text 1"/>
          <p:cNvSpPr txBox="1"/>
          <p:nvPr/>
        </p:nvSpPr>
        <p:spPr>
          <a:xfrm>
            <a:off x="640079" y="1024127"/>
            <a:ext cx="10911537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100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질문에서 리포트까지</a:t>
            </a:r>
          </a:p>
        </p:txBody>
      </p:sp>
      <p:sp>
        <p:nvSpPr>
          <p:cNvPr id="106" name="Text 2"/>
          <p:cNvSpPr txBox="1"/>
          <p:nvPr/>
        </p:nvSpPr>
        <p:spPr>
          <a:xfrm>
            <a:off x="640079" y="1743709"/>
            <a:ext cx="416052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200">
                <a:solidFill>
                  <a:srgbClr val="15816B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INPUT — 입력값</a:t>
            </a:r>
          </a:p>
        </p:txBody>
      </p:sp>
      <p:sp>
        <p:nvSpPr>
          <p:cNvPr id="107" name="Shape 3"/>
          <p:cNvSpPr/>
          <p:nvPr/>
        </p:nvSpPr>
        <p:spPr>
          <a:xfrm>
            <a:off x="640079" y="2057399"/>
            <a:ext cx="4160522" cy="1280162"/>
          </a:xfrm>
          <a:prstGeom prst="rect">
            <a:avLst/>
          </a:prstGeom>
          <a:solidFill>
            <a:srgbClr val="1616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Text 4"/>
          <p:cNvSpPr txBox="1"/>
          <p:nvPr/>
        </p:nvSpPr>
        <p:spPr>
          <a:xfrm>
            <a:off x="932688" y="2397442"/>
            <a:ext cx="3611880" cy="600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5000"/>
              </a:lnSpc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“강릉에서 관광객 대상으로 </a:t>
            </a:r>
          </a:p>
          <a:p>
            <a:pPr>
              <a:lnSpc>
                <a:spcPct val="125000"/>
              </a:lnSpc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창업하기 좋은 아이템 추천해줘.”</a:t>
            </a:r>
          </a:p>
        </p:txBody>
      </p:sp>
      <p:sp>
        <p:nvSpPr>
          <p:cNvPr id="109" name="Text 5"/>
          <p:cNvSpPr txBox="1"/>
          <p:nvPr/>
        </p:nvSpPr>
        <p:spPr>
          <a:xfrm>
            <a:off x="640079" y="3455415"/>
            <a:ext cx="416052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9A9A9A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지역과 창업 의도를 자연어로 입력</a:t>
            </a:r>
          </a:p>
        </p:txBody>
      </p:sp>
      <p:sp>
        <p:nvSpPr>
          <p:cNvPr id="110" name="Shape 6"/>
          <p:cNvSpPr/>
          <p:nvPr/>
        </p:nvSpPr>
        <p:spPr>
          <a:xfrm>
            <a:off x="640079" y="4069079"/>
            <a:ext cx="4160522" cy="2148841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Shape 7"/>
          <p:cNvSpPr/>
          <p:nvPr/>
        </p:nvSpPr>
        <p:spPr>
          <a:xfrm>
            <a:off x="640080" y="4069079"/>
            <a:ext cx="54865" cy="2148841"/>
          </a:xfrm>
          <a:prstGeom prst="rect">
            <a:avLst/>
          </a:prstGeom>
          <a:solidFill>
            <a:srgbClr val="D93A3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Text 8"/>
          <p:cNvSpPr txBox="1"/>
          <p:nvPr/>
        </p:nvSpPr>
        <p:spPr>
          <a:xfrm>
            <a:off x="932687" y="4316729"/>
            <a:ext cx="370332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실제 답변 예시</a:t>
            </a:r>
          </a:p>
        </p:txBody>
      </p:sp>
      <p:sp>
        <p:nvSpPr>
          <p:cNvPr id="113" name="Text 9"/>
          <p:cNvSpPr txBox="1"/>
          <p:nvPr/>
        </p:nvSpPr>
        <p:spPr>
          <a:xfrm>
            <a:off x="932688" y="5195570"/>
            <a:ext cx="361188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9A9A9A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엔노이아 앱 실제 답변 캡처 또는 문구 삽입 영역</a:t>
            </a:r>
          </a:p>
        </p:txBody>
      </p:sp>
      <p:pic>
        <p:nvPicPr>
          <p:cNvPr id="11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83479" y="2542032"/>
            <a:ext cx="502921" cy="502921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Text 10"/>
          <p:cNvSpPr txBox="1"/>
          <p:nvPr/>
        </p:nvSpPr>
        <p:spPr>
          <a:xfrm>
            <a:off x="5669279" y="1743709"/>
            <a:ext cx="588233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1200">
                <a:solidFill>
                  <a:srgbClr val="15816B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OUTPUT — 미니 컨설팅 리포트</a:t>
            </a:r>
          </a:p>
        </p:txBody>
      </p:sp>
      <p:sp>
        <p:nvSpPr>
          <p:cNvPr id="116" name="Shape 11"/>
          <p:cNvSpPr/>
          <p:nvPr/>
        </p:nvSpPr>
        <p:spPr>
          <a:xfrm>
            <a:off x="5669279" y="2212848"/>
            <a:ext cx="365761" cy="365761"/>
          </a:xfrm>
          <a:prstGeom prst="ellipse">
            <a:avLst/>
          </a:prstGeom>
          <a:solidFill>
            <a:srgbClr val="9FD8C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12"/>
          <p:cNvSpPr txBox="1"/>
          <p:nvPr/>
        </p:nvSpPr>
        <p:spPr>
          <a:xfrm>
            <a:off x="5669279" y="2243328"/>
            <a:ext cx="3657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161616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18" name="Text 13"/>
          <p:cNvSpPr txBox="1"/>
          <p:nvPr/>
        </p:nvSpPr>
        <p:spPr>
          <a:xfrm>
            <a:off x="6236208" y="2268728"/>
            <a:ext cx="5242255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C1C1C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한 줄 결론</a:t>
            </a:r>
          </a:p>
        </p:txBody>
      </p:sp>
      <p:sp>
        <p:nvSpPr>
          <p:cNvPr id="119" name="Shape 14"/>
          <p:cNvSpPr/>
          <p:nvPr/>
        </p:nvSpPr>
        <p:spPr>
          <a:xfrm>
            <a:off x="5669279" y="2688335"/>
            <a:ext cx="5882336" cy="1"/>
          </a:xfrm>
          <a:prstGeom prst="line">
            <a:avLst/>
          </a:prstGeom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Shape 15"/>
          <p:cNvSpPr/>
          <p:nvPr/>
        </p:nvSpPr>
        <p:spPr>
          <a:xfrm>
            <a:off x="5669279" y="2798064"/>
            <a:ext cx="365761" cy="365761"/>
          </a:xfrm>
          <a:prstGeom prst="ellipse">
            <a:avLst/>
          </a:prstGeom>
          <a:solidFill>
            <a:srgbClr val="9FD8C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Text 16"/>
          <p:cNvSpPr txBox="1"/>
          <p:nvPr/>
        </p:nvSpPr>
        <p:spPr>
          <a:xfrm>
            <a:off x="5669279" y="2828544"/>
            <a:ext cx="3657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161616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22" name="Text 17"/>
          <p:cNvSpPr txBox="1"/>
          <p:nvPr/>
        </p:nvSpPr>
        <p:spPr>
          <a:xfrm>
            <a:off x="6236208" y="2853943"/>
            <a:ext cx="5242255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1C1C1C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분석 기준</a:t>
            </a:r>
          </a:p>
        </p:txBody>
      </p:sp>
      <p:sp>
        <p:nvSpPr>
          <p:cNvPr id="123" name="Shape 18"/>
          <p:cNvSpPr/>
          <p:nvPr/>
        </p:nvSpPr>
        <p:spPr>
          <a:xfrm>
            <a:off x="5669279" y="3273552"/>
            <a:ext cx="5882336" cy="1"/>
          </a:xfrm>
          <a:prstGeom prst="line">
            <a:avLst/>
          </a:prstGeom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Shape 19"/>
          <p:cNvSpPr/>
          <p:nvPr/>
        </p:nvSpPr>
        <p:spPr>
          <a:xfrm>
            <a:off x="5669279" y="3383279"/>
            <a:ext cx="365761" cy="365761"/>
          </a:xfrm>
          <a:prstGeom prst="ellipse">
            <a:avLst/>
          </a:prstGeom>
          <a:solidFill>
            <a:srgbClr val="9FD8C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Text 20"/>
          <p:cNvSpPr txBox="1"/>
          <p:nvPr/>
        </p:nvSpPr>
        <p:spPr>
          <a:xfrm>
            <a:off x="5669279" y="3413759"/>
            <a:ext cx="3657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161616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26" name="Text 21"/>
          <p:cNvSpPr txBox="1"/>
          <p:nvPr/>
        </p:nvSpPr>
        <p:spPr>
          <a:xfrm>
            <a:off x="6236208" y="3439160"/>
            <a:ext cx="5242255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1C1C1C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핵심 데이터 요약</a:t>
            </a:r>
          </a:p>
        </p:txBody>
      </p:sp>
      <p:sp>
        <p:nvSpPr>
          <p:cNvPr id="127" name="Shape 22"/>
          <p:cNvSpPr/>
          <p:nvPr/>
        </p:nvSpPr>
        <p:spPr>
          <a:xfrm>
            <a:off x="5669279" y="3858767"/>
            <a:ext cx="5882336" cy="1"/>
          </a:xfrm>
          <a:prstGeom prst="line">
            <a:avLst/>
          </a:prstGeom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Shape 23"/>
          <p:cNvSpPr/>
          <p:nvPr/>
        </p:nvSpPr>
        <p:spPr>
          <a:xfrm>
            <a:off x="5669279" y="3968496"/>
            <a:ext cx="365761" cy="365761"/>
          </a:xfrm>
          <a:prstGeom prst="ellipse">
            <a:avLst/>
          </a:prstGeom>
          <a:solidFill>
            <a:srgbClr val="9FD8C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Text 24"/>
          <p:cNvSpPr txBox="1"/>
          <p:nvPr/>
        </p:nvSpPr>
        <p:spPr>
          <a:xfrm>
            <a:off x="5669279" y="3998976"/>
            <a:ext cx="3657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161616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30" name="Text 25"/>
          <p:cNvSpPr txBox="1"/>
          <p:nvPr/>
        </p:nvSpPr>
        <p:spPr>
          <a:xfrm>
            <a:off x="6236208" y="4024375"/>
            <a:ext cx="5242255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1C1C1C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창업 기회 해석</a:t>
            </a:r>
          </a:p>
        </p:txBody>
      </p:sp>
      <p:sp>
        <p:nvSpPr>
          <p:cNvPr id="131" name="Shape 26"/>
          <p:cNvSpPr/>
          <p:nvPr/>
        </p:nvSpPr>
        <p:spPr>
          <a:xfrm>
            <a:off x="5669279" y="4443984"/>
            <a:ext cx="5882336" cy="1"/>
          </a:xfrm>
          <a:prstGeom prst="line">
            <a:avLst/>
          </a:prstGeom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Shape 27"/>
          <p:cNvSpPr/>
          <p:nvPr/>
        </p:nvSpPr>
        <p:spPr>
          <a:xfrm>
            <a:off x="5669279" y="4553711"/>
            <a:ext cx="365761" cy="365761"/>
          </a:xfrm>
          <a:prstGeom prst="ellipse">
            <a:avLst/>
          </a:prstGeom>
          <a:solidFill>
            <a:srgbClr val="9FD8C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Text 28"/>
          <p:cNvSpPr txBox="1"/>
          <p:nvPr/>
        </p:nvSpPr>
        <p:spPr>
          <a:xfrm>
            <a:off x="5669279" y="4584191"/>
            <a:ext cx="3657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161616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34" name="Text 29"/>
          <p:cNvSpPr txBox="1"/>
          <p:nvPr/>
        </p:nvSpPr>
        <p:spPr>
          <a:xfrm>
            <a:off x="6236208" y="4609592"/>
            <a:ext cx="5242255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1C1C1C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추천 창업 아이템</a:t>
            </a:r>
          </a:p>
        </p:txBody>
      </p:sp>
      <p:sp>
        <p:nvSpPr>
          <p:cNvPr id="135" name="Shape 30"/>
          <p:cNvSpPr/>
          <p:nvPr/>
        </p:nvSpPr>
        <p:spPr>
          <a:xfrm>
            <a:off x="5669279" y="5029200"/>
            <a:ext cx="5882336" cy="0"/>
          </a:xfrm>
          <a:prstGeom prst="line">
            <a:avLst/>
          </a:prstGeom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Shape 31"/>
          <p:cNvSpPr/>
          <p:nvPr/>
        </p:nvSpPr>
        <p:spPr>
          <a:xfrm>
            <a:off x="5669279" y="5138928"/>
            <a:ext cx="365761" cy="365761"/>
          </a:xfrm>
          <a:prstGeom prst="ellipse">
            <a:avLst/>
          </a:prstGeom>
          <a:solidFill>
            <a:srgbClr val="9FD8C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Text 32"/>
          <p:cNvSpPr txBox="1"/>
          <p:nvPr/>
        </p:nvSpPr>
        <p:spPr>
          <a:xfrm>
            <a:off x="5669279" y="5169408"/>
            <a:ext cx="36576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161616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38" name="Text 33"/>
          <p:cNvSpPr txBox="1"/>
          <p:nvPr/>
        </p:nvSpPr>
        <p:spPr>
          <a:xfrm>
            <a:off x="6236208" y="5194807"/>
            <a:ext cx="5242255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1C1C1C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리스크와 추가 확인사항</a:t>
            </a:r>
          </a:p>
        </p:txBody>
      </p:sp>
      <p:sp>
        <p:nvSpPr>
          <p:cNvPr id="139" name="Shape 34"/>
          <p:cNvSpPr/>
          <p:nvPr/>
        </p:nvSpPr>
        <p:spPr>
          <a:xfrm>
            <a:off x="5669279" y="5614415"/>
            <a:ext cx="5882336" cy="1"/>
          </a:xfrm>
          <a:prstGeom prst="line">
            <a:avLst/>
          </a:prstGeom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Text 38"/>
          <p:cNvSpPr txBox="1"/>
          <p:nvPr/>
        </p:nvSpPr>
        <p:spPr>
          <a:xfrm>
            <a:off x="640080" y="6468110"/>
            <a:ext cx="2743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9A9A9A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도반(Doban)</a:t>
            </a:r>
          </a:p>
        </p:txBody>
      </p:sp>
      <p:sp>
        <p:nvSpPr>
          <p:cNvPr id="141" name="Text 39"/>
          <p:cNvSpPr txBox="1"/>
          <p:nvPr/>
        </p:nvSpPr>
        <p:spPr>
          <a:xfrm>
            <a:off x="10637215" y="6468110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9A9A9A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5 / 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0"/>
          <p:cNvSpPr txBox="1"/>
          <p:nvPr/>
        </p:nvSpPr>
        <p:spPr>
          <a:xfrm>
            <a:off x="640080" y="605281"/>
            <a:ext cx="82296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pc="100" sz="1200">
                <a:solidFill>
                  <a:srgbClr val="D93A32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04</a:t>
            </a:r>
            <a:r>
              <a:rPr>
                <a:solidFill>
                  <a:srgbClr val="6E6E6E"/>
                </a:solidFill>
              </a:rPr>
              <a:t>   INPUT · OUTPUT</a:t>
            </a:r>
          </a:p>
        </p:txBody>
      </p:sp>
      <p:sp>
        <p:nvSpPr>
          <p:cNvPr id="144" name="Text 1"/>
          <p:cNvSpPr txBox="1"/>
          <p:nvPr/>
        </p:nvSpPr>
        <p:spPr>
          <a:xfrm>
            <a:off x="640079" y="1024127"/>
            <a:ext cx="10911537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100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자연어 입력 처리</a:t>
            </a:r>
          </a:p>
        </p:txBody>
      </p:sp>
      <p:sp>
        <p:nvSpPr>
          <p:cNvPr id="145" name="Text 2"/>
          <p:cNvSpPr txBox="1"/>
          <p:nvPr/>
        </p:nvSpPr>
        <p:spPr>
          <a:xfrm>
            <a:off x="640080" y="1799590"/>
            <a:ext cx="52578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가변 입력</a:t>
            </a:r>
          </a:p>
        </p:txBody>
      </p:sp>
      <p:sp>
        <p:nvSpPr>
          <p:cNvPr id="146" name="Shape 3"/>
          <p:cNvSpPr/>
          <p:nvPr/>
        </p:nvSpPr>
        <p:spPr>
          <a:xfrm>
            <a:off x="640080" y="2139695"/>
            <a:ext cx="5257801" cy="1"/>
          </a:xfrm>
          <a:prstGeom prst="line">
            <a:avLst/>
          </a:prstGeom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Shape 4"/>
          <p:cNvSpPr/>
          <p:nvPr/>
        </p:nvSpPr>
        <p:spPr>
          <a:xfrm>
            <a:off x="640080" y="2377439"/>
            <a:ext cx="1371601" cy="420625"/>
          </a:xfrm>
          <a:prstGeom prst="rect">
            <a:avLst/>
          </a:prstGeom>
          <a:solidFill>
            <a:srgbClr val="9FD8C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Text 5"/>
          <p:cNvSpPr txBox="1"/>
          <p:nvPr/>
        </p:nvSpPr>
        <p:spPr>
          <a:xfrm>
            <a:off x="640080" y="2479801"/>
            <a:ext cx="13716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161616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지역명</a:t>
            </a:r>
          </a:p>
        </p:txBody>
      </p:sp>
      <p:sp>
        <p:nvSpPr>
          <p:cNvPr id="149" name="Text 6"/>
          <p:cNvSpPr txBox="1"/>
          <p:nvPr/>
        </p:nvSpPr>
        <p:spPr>
          <a:xfrm>
            <a:off x="2240279" y="2467101"/>
            <a:ext cx="36576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C1C1C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강릉 · 해운대 · 전주시</a:t>
            </a:r>
          </a:p>
        </p:txBody>
      </p:sp>
      <p:sp>
        <p:nvSpPr>
          <p:cNvPr id="150" name="Shape 7"/>
          <p:cNvSpPr/>
          <p:nvPr/>
        </p:nvSpPr>
        <p:spPr>
          <a:xfrm>
            <a:off x="640080" y="2944367"/>
            <a:ext cx="1371601" cy="420625"/>
          </a:xfrm>
          <a:prstGeom prst="rect">
            <a:avLst/>
          </a:prstGeom>
          <a:solidFill>
            <a:srgbClr val="9FD8C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Text 8"/>
          <p:cNvSpPr txBox="1"/>
          <p:nvPr/>
        </p:nvSpPr>
        <p:spPr>
          <a:xfrm>
            <a:off x="640080" y="3046729"/>
            <a:ext cx="13716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161616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관광지명</a:t>
            </a:r>
          </a:p>
        </p:txBody>
      </p:sp>
      <p:sp>
        <p:nvSpPr>
          <p:cNvPr id="152" name="Text 9"/>
          <p:cNvSpPr txBox="1"/>
          <p:nvPr/>
        </p:nvSpPr>
        <p:spPr>
          <a:xfrm>
            <a:off x="2240279" y="3034029"/>
            <a:ext cx="36576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C1C1C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전주 한옥마을</a:t>
            </a:r>
          </a:p>
        </p:txBody>
      </p:sp>
      <p:sp>
        <p:nvSpPr>
          <p:cNvPr id="153" name="Shape 10"/>
          <p:cNvSpPr/>
          <p:nvPr/>
        </p:nvSpPr>
        <p:spPr>
          <a:xfrm>
            <a:off x="640080" y="3511296"/>
            <a:ext cx="1371601" cy="420625"/>
          </a:xfrm>
          <a:prstGeom prst="rect">
            <a:avLst/>
          </a:prstGeom>
          <a:solidFill>
            <a:srgbClr val="9FD8C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Text 11"/>
          <p:cNvSpPr txBox="1"/>
          <p:nvPr/>
        </p:nvSpPr>
        <p:spPr>
          <a:xfrm>
            <a:off x="640080" y="3613658"/>
            <a:ext cx="13716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161616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관심 업종</a:t>
            </a:r>
          </a:p>
        </p:txBody>
      </p:sp>
      <p:sp>
        <p:nvSpPr>
          <p:cNvPr id="155" name="Text 12"/>
          <p:cNvSpPr txBox="1"/>
          <p:nvPr/>
        </p:nvSpPr>
        <p:spPr>
          <a:xfrm>
            <a:off x="2240279" y="3600958"/>
            <a:ext cx="36576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C1C1C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디저트 · 카페 · 웰니스</a:t>
            </a:r>
          </a:p>
        </p:txBody>
      </p:sp>
      <p:sp>
        <p:nvSpPr>
          <p:cNvPr id="156" name="Shape 13"/>
          <p:cNvSpPr/>
          <p:nvPr/>
        </p:nvSpPr>
        <p:spPr>
          <a:xfrm>
            <a:off x="640080" y="4078223"/>
            <a:ext cx="1371601" cy="420625"/>
          </a:xfrm>
          <a:prstGeom prst="rect">
            <a:avLst/>
          </a:prstGeom>
          <a:solidFill>
            <a:srgbClr val="9FD8C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Text 14"/>
          <p:cNvSpPr txBox="1"/>
          <p:nvPr/>
        </p:nvSpPr>
        <p:spPr>
          <a:xfrm>
            <a:off x="640080" y="4180585"/>
            <a:ext cx="13716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161616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고객 유형</a:t>
            </a:r>
          </a:p>
        </p:txBody>
      </p:sp>
      <p:sp>
        <p:nvSpPr>
          <p:cNvPr id="158" name="Text 15"/>
          <p:cNvSpPr txBox="1"/>
          <p:nvPr/>
        </p:nvSpPr>
        <p:spPr>
          <a:xfrm>
            <a:off x="2240279" y="4167885"/>
            <a:ext cx="36576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1C1C1C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가족 관광객 · 웰니스 관광객</a:t>
            </a:r>
          </a:p>
        </p:txBody>
      </p:sp>
      <p:sp>
        <p:nvSpPr>
          <p:cNvPr id="159" name="Shape 16"/>
          <p:cNvSpPr/>
          <p:nvPr/>
        </p:nvSpPr>
        <p:spPr>
          <a:xfrm>
            <a:off x="640080" y="4754879"/>
            <a:ext cx="5257801" cy="1188721"/>
          </a:xfrm>
          <a:prstGeom prst="rect">
            <a:avLst/>
          </a:prstGeom>
          <a:solidFill>
            <a:srgbClr val="EAF5F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Text 17"/>
          <p:cNvSpPr txBox="1"/>
          <p:nvPr/>
        </p:nvSpPr>
        <p:spPr>
          <a:xfrm>
            <a:off x="932688" y="5077777"/>
            <a:ext cx="4709160" cy="542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5000"/>
              </a:lnSpc>
              <a:defRPr b="1" sz="1300">
                <a:solidFill>
                  <a:srgbClr val="D93A32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예시   </a:t>
            </a:r>
            <a:r>
              <a:rPr b="0">
                <a:solidFill>
                  <a:srgbClr val="1C1C1C"/>
                </a:solidFill>
              </a:rPr>
              <a:t>“제주에서 웰니스 관광객 대상으로 할 만한 </a:t>
            </a:r>
            <a:endParaRPr b="0">
              <a:solidFill>
                <a:srgbClr val="1C1C1C"/>
              </a:solidFill>
            </a:endParaRPr>
          </a:p>
          <a:p>
            <a:pPr>
              <a:lnSpc>
                <a:spcPct val="125000"/>
              </a:lnSpc>
              <a:defRPr b="1" sz="1300">
                <a:solidFill>
                  <a:srgbClr val="D93A32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rPr b="0">
                <a:solidFill>
                  <a:srgbClr val="1C1C1C"/>
                </a:solidFill>
              </a:rPr>
              <a:t>             창업 아이템 추천해줘.”</a:t>
            </a:r>
          </a:p>
        </p:txBody>
      </p:sp>
      <p:sp>
        <p:nvSpPr>
          <p:cNvPr id="161" name="Text 18"/>
          <p:cNvSpPr txBox="1"/>
          <p:nvPr/>
        </p:nvSpPr>
        <p:spPr>
          <a:xfrm>
            <a:off x="6446520" y="1799590"/>
            <a:ext cx="5105096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처리 결과</a:t>
            </a:r>
          </a:p>
        </p:txBody>
      </p:sp>
      <p:sp>
        <p:nvSpPr>
          <p:cNvPr id="162" name="Shape 19"/>
          <p:cNvSpPr/>
          <p:nvPr/>
        </p:nvSpPr>
        <p:spPr>
          <a:xfrm>
            <a:off x="6446520" y="2139695"/>
            <a:ext cx="5105096" cy="1"/>
          </a:xfrm>
          <a:prstGeom prst="line">
            <a:avLst/>
          </a:prstGeom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Shape 20"/>
          <p:cNvSpPr/>
          <p:nvPr/>
        </p:nvSpPr>
        <p:spPr>
          <a:xfrm>
            <a:off x="6446520" y="2423160"/>
            <a:ext cx="402337" cy="402337"/>
          </a:xfrm>
          <a:prstGeom prst="ellipse">
            <a:avLst/>
          </a:prstGeom>
          <a:solidFill>
            <a:srgbClr val="9FD8C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Text 21"/>
          <p:cNvSpPr txBox="1"/>
          <p:nvPr/>
        </p:nvSpPr>
        <p:spPr>
          <a:xfrm>
            <a:off x="6446520" y="2471928"/>
            <a:ext cx="40233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161616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65" name="Text 22"/>
          <p:cNvSpPr txBox="1"/>
          <p:nvPr/>
        </p:nvSpPr>
        <p:spPr>
          <a:xfrm>
            <a:off x="7013447" y="2461513"/>
            <a:ext cx="446501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5816B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입력 의도 해석</a:t>
            </a:r>
          </a:p>
        </p:txBody>
      </p:sp>
      <p:sp>
        <p:nvSpPr>
          <p:cNvPr id="166" name="Text 23"/>
          <p:cNvSpPr txBox="1"/>
          <p:nvPr/>
        </p:nvSpPr>
        <p:spPr>
          <a:xfrm>
            <a:off x="7013447" y="2872994"/>
            <a:ext cx="446501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200">
                <a:solidFill>
                  <a:srgbClr val="6E6E6E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지역명·관광지명·업종·고객 유형 구분</a:t>
            </a:r>
          </a:p>
        </p:txBody>
      </p:sp>
      <p:sp>
        <p:nvSpPr>
          <p:cNvPr id="167" name="Shape 24"/>
          <p:cNvSpPr/>
          <p:nvPr/>
        </p:nvSpPr>
        <p:spPr>
          <a:xfrm>
            <a:off x="6446520" y="3364991"/>
            <a:ext cx="402337" cy="402337"/>
          </a:xfrm>
          <a:prstGeom prst="ellipse">
            <a:avLst/>
          </a:prstGeom>
          <a:solidFill>
            <a:srgbClr val="9FD8C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Text 25"/>
          <p:cNvSpPr txBox="1"/>
          <p:nvPr/>
        </p:nvSpPr>
        <p:spPr>
          <a:xfrm>
            <a:off x="6446520" y="3413759"/>
            <a:ext cx="40233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161616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69" name="Text 26"/>
          <p:cNvSpPr txBox="1"/>
          <p:nvPr/>
        </p:nvSpPr>
        <p:spPr>
          <a:xfrm>
            <a:off x="7013447" y="3403345"/>
            <a:ext cx="446501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5816B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관광지명 확인</a:t>
            </a:r>
          </a:p>
        </p:txBody>
      </p:sp>
      <p:sp>
        <p:nvSpPr>
          <p:cNvPr id="170" name="Text 27"/>
          <p:cNvSpPr txBox="1"/>
          <p:nvPr/>
        </p:nvSpPr>
        <p:spPr>
          <a:xfrm>
            <a:off x="7013447" y="3814826"/>
            <a:ext cx="446501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200">
                <a:solidFill>
                  <a:srgbClr val="6E6E6E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국문 관광정보 서비스로 주소·좌표·contentId 확인</a:t>
            </a:r>
          </a:p>
        </p:txBody>
      </p:sp>
      <p:sp>
        <p:nvSpPr>
          <p:cNvPr id="171" name="Shape 28"/>
          <p:cNvSpPr/>
          <p:nvPr/>
        </p:nvSpPr>
        <p:spPr>
          <a:xfrm>
            <a:off x="6446520" y="4306823"/>
            <a:ext cx="402337" cy="402337"/>
          </a:xfrm>
          <a:prstGeom prst="ellipse">
            <a:avLst/>
          </a:prstGeom>
          <a:solidFill>
            <a:srgbClr val="9FD8C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29"/>
          <p:cNvSpPr txBox="1"/>
          <p:nvPr/>
        </p:nvSpPr>
        <p:spPr>
          <a:xfrm>
            <a:off x="6446520" y="4355591"/>
            <a:ext cx="40233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161616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73" name="Text 30"/>
          <p:cNvSpPr txBox="1"/>
          <p:nvPr/>
        </p:nvSpPr>
        <p:spPr>
          <a:xfrm>
            <a:off x="7013447" y="4345177"/>
            <a:ext cx="446501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5816B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지역코드 변환</a:t>
            </a:r>
          </a:p>
        </p:txBody>
      </p:sp>
      <p:sp>
        <p:nvSpPr>
          <p:cNvPr id="174" name="Text 31"/>
          <p:cNvSpPr txBox="1"/>
          <p:nvPr/>
        </p:nvSpPr>
        <p:spPr>
          <a:xfrm>
            <a:off x="7013447" y="4756658"/>
            <a:ext cx="446501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0000"/>
              </a:lnSpc>
              <a:defRPr sz="1200">
                <a:solidFill>
                  <a:srgbClr val="6E6E6E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분석 가능한 areaCd, signguCd로 매핑</a:t>
            </a:r>
          </a:p>
        </p:txBody>
      </p:sp>
      <p:sp>
        <p:nvSpPr>
          <p:cNvPr id="175" name="Shape 32"/>
          <p:cNvSpPr/>
          <p:nvPr/>
        </p:nvSpPr>
        <p:spPr>
          <a:xfrm>
            <a:off x="6446520" y="5248655"/>
            <a:ext cx="402337" cy="402337"/>
          </a:xfrm>
          <a:prstGeom prst="ellipse">
            <a:avLst/>
          </a:prstGeom>
          <a:solidFill>
            <a:srgbClr val="9FD8C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Text 33"/>
          <p:cNvSpPr txBox="1"/>
          <p:nvPr/>
        </p:nvSpPr>
        <p:spPr>
          <a:xfrm>
            <a:off x="6446520" y="5297423"/>
            <a:ext cx="40233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161616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77" name="Text 34"/>
          <p:cNvSpPr txBox="1"/>
          <p:nvPr/>
        </p:nvSpPr>
        <p:spPr>
          <a:xfrm>
            <a:off x="7013447" y="5287009"/>
            <a:ext cx="4465016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5816B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데이터 조합 및 리포트 생성</a:t>
            </a:r>
          </a:p>
        </p:txBody>
      </p:sp>
      <p:sp>
        <p:nvSpPr>
          <p:cNvPr id="178" name="Text 35"/>
          <p:cNvSpPr txBox="1"/>
          <p:nvPr/>
        </p:nvSpPr>
        <p:spPr>
          <a:xfrm>
            <a:off x="7013447" y="5689346"/>
            <a:ext cx="4465016" cy="453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sz="1200">
                <a:solidFill>
                  <a:srgbClr val="6E6E6E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방문자·수요·자원·동선·웰니스 데이터를 조합해</a:t>
            </a:r>
          </a:p>
          <a:p>
            <a:pPr>
              <a:lnSpc>
                <a:spcPct val="110000"/>
              </a:lnSpc>
              <a:defRPr sz="1200">
                <a:solidFill>
                  <a:srgbClr val="6E6E6E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창업 아이템과 리스크 제시</a:t>
            </a:r>
          </a:p>
        </p:txBody>
      </p:sp>
      <p:sp>
        <p:nvSpPr>
          <p:cNvPr id="179" name="Text 36"/>
          <p:cNvSpPr txBox="1"/>
          <p:nvPr/>
        </p:nvSpPr>
        <p:spPr>
          <a:xfrm>
            <a:off x="640080" y="6468110"/>
            <a:ext cx="2743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9A9A9A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도반(Doban)</a:t>
            </a:r>
          </a:p>
        </p:txBody>
      </p:sp>
      <p:sp>
        <p:nvSpPr>
          <p:cNvPr id="180" name="Text 37"/>
          <p:cNvSpPr txBox="1"/>
          <p:nvPr/>
        </p:nvSpPr>
        <p:spPr>
          <a:xfrm>
            <a:off x="10637215" y="6468110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9A9A9A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6 / 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 0"/>
          <p:cNvSpPr txBox="1"/>
          <p:nvPr/>
        </p:nvSpPr>
        <p:spPr>
          <a:xfrm>
            <a:off x="640080" y="605281"/>
            <a:ext cx="82296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pc="100" sz="1200">
                <a:solidFill>
                  <a:srgbClr val="D93A32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05</a:t>
            </a:r>
            <a:r>
              <a:rPr>
                <a:solidFill>
                  <a:srgbClr val="6E6E6E"/>
                </a:solidFill>
              </a:rPr>
              <a:t>   DEMO</a:t>
            </a:r>
          </a:p>
        </p:txBody>
      </p:sp>
      <p:sp>
        <p:nvSpPr>
          <p:cNvPr id="183" name="Text 1"/>
          <p:cNvSpPr txBox="1"/>
          <p:nvPr/>
        </p:nvSpPr>
        <p:spPr>
          <a:xfrm>
            <a:off x="640079" y="1024127"/>
            <a:ext cx="10911537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100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서비스 시연 · 엔노이아 앱</a:t>
            </a:r>
          </a:p>
        </p:txBody>
      </p:sp>
      <p:sp>
        <p:nvSpPr>
          <p:cNvPr id="184" name="Shape 2"/>
          <p:cNvSpPr/>
          <p:nvPr/>
        </p:nvSpPr>
        <p:spPr>
          <a:xfrm>
            <a:off x="640080" y="1737359"/>
            <a:ext cx="4480560" cy="4389122"/>
          </a:xfrm>
          <a:prstGeom prst="rect">
            <a:avLst/>
          </a:prstGeom>
          <a:solidFill>
            <a:srgbClr val="F7F7F7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18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68879" y="2788920"/>
            <a:ext cx="822961" cy="822961"/>
          </a:xfrm>
          <a:prstGeom prst="rect">
            <a:avLst/>
          </a:prstGeom>
          <a:ln w="12700">
            <a:miter lim="400000"/>
          </a:ln>
        </p:spPr>
      </p:pic>
      <p:sp>
        <p:nvSpPr>
          <p:cNvPr id="186" name="Text 3"/>
          <p:cNvSpPr txBox="1"/>
          <p:nvPr/>
        </p:nvSpPr>
        <p:spPr>
          <a:xfrm>
            <a:off x="1005839" y="3882390"/>
            <a:ext cx="374904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6E6E6E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엔노이아 Studio 앱 화면 캡처 영역</a:t>
            </a:r>
          </a:p>
        </p:txBody>
      </p:sp>
      <p:sp>
        <p:nvSpPr>
          <p:cNvPr id="187" name="Text 4"/>
          <p:cNvSpPr txBox="1"/>
          <p:nvPr/>
        </p:nvSpPr>
        <p:spPr>
          <a:xfrm>
            <a:off x="1005839" y="4264660"/>
            <a:ext cx="374904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9A9A9A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실제 화면으로 교체 예정</a:t>
            </a:r>
          </a:p>
        </p:txBody>
      </p:sp>
      <p:sp>
        <p:nvSpPr>
          <p:cNvPr id="188" name="Text 5"/>
          <p:cNvSpPr txBox="1"/>
          <p:nvPr/>
        </p:nvSpPr>
        <p:spPr>
          <a:xfrm>
            <a:off x="5532120" y="1845309"/>
            <a:ext cx="6019496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화면 흐름</a:t>
            </a:r>
          </a:p>
        </p:txBody>
      </p:sp>
      <p:sp>
        <p:nvSpPr>
          <p:cNvPr id="189" name="Shape 6"/>
          <p:cNvSpPr/>
          <p:nvPr/>
        </p:nvSpPr>
        <p:spPr>
          <a:xfrm>
            <a:off x="5532120" y="2395727"/>
            <a:ext cx="420625" cy="420625"/>
          </a:xfrm>
          <a:prstGeom prst="ellipse">
            <a:avLst/>
          </a:prstGeom>
          <a:solidFill>
            <a:srgbClr val="9FD8C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Text 7"/>
          <p:cNvSpPr txBox="1"/>
          <p:nvPr/>
        </p:nvSpPr>
        <p:spPr>
          <a:xfrm>
            <a:off x="5532120" y="2453639"/>
            <a:ext cx="42062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161616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91" name="Text 8"/>
          <p:cNvSpPr txBox="1"/>
          <p:nvPr/>
        </p:nvSpPr>
        <p:spPr>
          <a:xfrm>
            <a:off x="6172200" y="2360930"/>
            <a:ext cx="528797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질문 입력 화면</a:t>
            </a:r>
          </a:p>
        </p:txBody>
      </p:sp>
      <p:sp>
        <p:nvSpPr>
          <p:cNvPr id="192" name="Text 9"/>
          <p:cNvSpPr txBox="1"/>
          <p:nvPr/>
        </p:nvSpPr>
        <p:spPr>
          <a:xfrm>
            <a:off x="6172200" y="2722118"/>
            <a:ext cx="528797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E6E6E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지역·업종·창업 의도를 자연어로 입력</a:t>
            </a:r>
          </a:p>
        </p:txBody>
      </p:sp>
      <p:sp>
        <p:nvSpPr>
          <p:cNvPr id="193" name="Shape 10"/>
          <p:cNvSpPr/>
          <p:nvPr/>
        </p:nvSpPr>
        <p:spPr>
          <a:xfrm>
            <a:off x="5742432" y="2816351"/>
            <a:ext cx="1" cy="502920"/>
          </a:xfrm>
          <a:prstGeom prst="line">
            <a:avLst/>
          </a:prstGeom>
          <a:ln w="1905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4" name="Shape 11"/>
          <p:cNvSpPr/>
          <p:nvPr/>
        </p:nvSpPr>
        <p:spPr>
          <a:xfrm>
            <a:off x="5532120" y="3429000"/>
            <a:ext cx="420625" cy="420624"/>
          </a:xfrm>
          <a:prstGeom prst="ellipse">
            <a:avLst/>
          </a:prstGeom>
          <a:solidFill>
            <a:srgbClr val="9FD8C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5" name="Text 12"/>
          <p:cNvSpPr txBox="1"/>
          <p:nvPr/>
        </p:nvSpPr>
        <p:spPr>
          <a:xfrm>
            <a:off x="5532120" y="3486912"/>
            <a:ext cx="42062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161616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96" name="Text 13"/>
          <p:cNvSpPr txBox="1"/>
          <p:nvPr/>
        </p:nvSpPr>
        <p:spPr>
          <a:xfrm>
            <a:off x="6172200" y="3394201"/>
            <a:ext cx="528797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API 기반 답변 출력 화면</a:t>
            </a:r>
          </a:p>
        </p:txBody>
      </p:sp>
      <p:sp>
        <p:nvSpPr>
          <p:cNvPr id="197" name="Text 14"/>
          <p:cNvSpPr txBox="1"/>
          <p:nvPr/>
        </p:nvSpPr>
        <p:spPr>
          <a:xfrm>
            <a:off x="6172200" y="3755390"/>
            <a:ext cx="528797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E6E6E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관광 데이터를 조합한 미니 컨설팅 리포트</a:t>
            </a:r>
          </a:p>
        </p:txBody>
      </p:sp>
      <p:sp>
        <p:nvSpPr>
          <p:cNvPr id="198" name="Shape 15"/>
          <p:cNvSpPr/>
          <p:nvPr/>
        </p:nvSpPr>
        <p:spPr>
          <a:xfrm>
            <a:off x="5742432" y="3849623"/>
            <a:ext cx="1" cy="502920"/>
          </a:xfrm>
          <a:prstGeom prst="line">
            <a:avLst/>
          </a:prstGeom>
          <a:ln w="1905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Shape 16"/>
          <p:cNvSpPr/>
          <p:nvPr/>
        </p:nvSpPr>
        <p:spPr>
          <a:xfrm>
            <a:off x="5532120" y="4462271"/>
            <a:ext cx="420625" cy="420625"/>
          </a:xfrm>
          <a:prstGeom prst="ellipse">
            <a:avLst/>
          </a:prstGeom>
          <a:solidFill>
            <a:srgbClr val="9FD8C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0" name="Text 17"/>
          <p:cNvSpPr txBox="1"/>
          <p:nvPr/>
        </p:nvSpPr>
        <p:spPr>
          <a:xfrm>
            <a:off x="5532120" y="4520183"/>
            <a:ext cx="42062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161616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01" name="Text 18"/>
          <p:cNvSpPr txBox="1"/>
          <p:nvPr/>
        </p:nvSpPr>
        <p:spPr>
          <a:xfrm>
            <a:off x="6172200" y="4427474"/>
            <a:ext cx="528797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공유 URL 접속 확인 화면</a:t>
            </a:r>
          </a:p>
        </p:txBody>
      </p:sp>
      <p:sp>
        <p:nvSpPr>
          <p:cNvPr id="202" name="Text 19"/>
          <p:cNvSpPr txBox="1"/>
          <p:nvPr/>
        </p:nvSpPr>
        <p:spPr>
          <a:xfrm>
            <a:off x="6172200" y="4788661"/>
            <a:ext cx="5287975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E6E6E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생성된 리포트를 링크로 공유·재확인</a:t>
            </a:r>
          </a:p>
        </p:txBody>
      </p:sp>
      <p:sp>
        <p:nvSpPr>
          <p:cNvPr id="203" name="Shape 20"/>
          <p:cNvSpPr/>
          <p:nvPr/>
        </p:nvSpPr>
        <p:spPr>
          <a:xfrm>
            <a:off x="5532120" y="5440679"/>
            <a:ext cx="6019496" cy="777241"/>
          </a:xfrm>
          <a:prstGeom prst="rect">
            <a:avLst/>
          </a:prstGeom>
          <a:solidFill>
            <a:srgbClr val="1616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Text 21"/>
          <p:cNvSpPr txBox="1"/>
          <p:nvPr/>
        </p:nvSpPr>
        <p:spPr>
          <a:xfrm>
            <a:off x="5824728" y="5708649"/>
            <a:ext cx="5470855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b="1" sz="1300">
                <a:solidFill>
                  <a:srgbClr val="8FD3C0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추천 시연 질문   </a:t>
            </a:r>
            <a:r>
              <a:rPr b="0">
                <a:solidFill>
                  <a:srgbClr val="FFFFFF"/>
                </a:solidFill>
              </a:rPr>
              <a:t>전주 한옥마을 근처에서 디저트 가게를 하면 괜찮을까?</a:t>
            </a:r>
          </a:p>
        </p:txBody>
      </p:sp>
      <p:sp>
        <p:nvSpPr>
          <p:cNvPr id="205" name="Text 22"/>
          <p:cNvSpPr txBox="1"/>
          <p:nvPr/>
        </p:nvSpPr>
        <p:spPr>
          <a:xfrm>
            <a:off x="640080" y="6468110"/>
            <a:ext cx="2743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9A9A9A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도반(Doban)</a:t>
            </a:r>
          </a:p>
        </p:txBody>
      </p:sp>
      <p:sp>
        <p:nvSpPr>
          <p:cNvPr id="206" name="Text 23"/>
          <p:cNvSpPr txBox="1"/>
          <p:nvPr/>
        </p:nvSpPr>
        <p:spPr>
          <a:xfrm>
            <a:off x="10637215" y="6468110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9A9A9A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7 / 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 0"/>
          <p:cNvSpPr txBox="1"/>
          <p:nvPr/>
        </p:nvSpPr>
        <p:spPr>
          <a:xfrm>
            <a:off x="640080" y="605281"/>
            <a:ext cx="82296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pc="100" sz="1200">
                <a:solidFill>
                  <a:srgbClr val="D93A32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05</a:t>
            </a:r>
            <a:r>
              <a:rPr>
                <a:solidFill>
                  <a:srgbClr val="6E6E6E"/>
                </a:solidFill>
              </a:rPr>
              <a:t>   DEMO</a:t>
            </a:r>
          </a:p>
        </p:txBody>
      </p:sp>
      <p:sp>
        <p:nvSpPr>
          <p:cNvPr id="209" name="Text 1"/>
          <p:cNvSpPr txBox="1"/>
          <p:nvPr/>
        </p:nvSpPr>
        <p:spPr>
          <a:xfrm>
            <a:off x="640079" y="1024127"/>
            <a:ext cx="10911537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100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서비스 흐름</a:t>
            </a:r>
          </a:p>
        </p:txBody>
      </p:sp>
      <p:sp>
        <p:nvSpPr>
          <p:cNvPr id="210" name="Shape 2"/>
          <p:cNvSpPr/>
          <p:nvPr/>
        </p:nvSpPr>
        <p:spPr>
          <a:xfrm>
            <a:off x="685799" y="1828799"/>
            <a:ext cx="3246122" cy="1645922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Text 3"/>
          <p:cNvSpPr txBox="1"/>
          <p:nvPr/>
        </p:nvSpPr>
        <p:spPr>
          <a:xfrm>
            <a:off x="978408" y="2158491"/>
            <a:ext cx="91440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9FD8C6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12" name="Text 4"/>
          <p:cNvSpPr txBox="1"/>
          <p:nvPr/>
        </p:nvSpPr>
        <p:spPr>
          <a:xfrm>
            <a:off x="1691639" y="2204720"/>
            <a:ext cx="20574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질문 입력</a:t>
            </a:r>
          </a:p>
        </p:txBody>
      </p:sp>
      <p:sp>
        <p:nvSpPr>
          <p:cNvPr id="213" name="Text 5"/>
          <p:cNvSpPr txBox="1"/>
          <p:nvPr/>
        </p:nvSpPr>
        <p:spPr>
          <a:xfrm>
            <a:off x="996695" y="2909570"/>
            <a:ext cx="269748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E6E6E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지역·업종·의도</a:t>
            </a:r>
          </a:p>
        </p:txBody>
      </p:sp>
      <p:pic>
        <p:nvPicPr>
          <p:cNvPr id="21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05071" y="2459735"/>
            <a:ext cx="384049" cy="384049"/>
          </a:xfrm>
          <a:prstGeom prst="rect">
            <a:avLst/>
          </a:prstGeom>
          <a:ln w="12700">
            <a:miter lim="400000"/>
          </a:ln>
        </p:spPr>
      </p:pic>
      <p:sp>
        <p:nvSpPr>
          <p:cNvPr id="215" name="Shape 6"/>
          <p:cNvSpPr/>
          <p:nvPr/>
        </p:nvSpPr>
        <p:spPr>
          <a:xfrm>
            <a:off x="4480559" y="1828799"/>
            <a:ext cx="3246121" cy="1645922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Text 7"/>
          <p:cNvSpPr txBox="1"/>
          <p:nvPr/>
        </p:nvSpPr>
        <p:spPr>
          <a:xfrm>
            <a:off x="4773167" y="2158491"/>
            <a:ext cx="91440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9FD8C6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17" name="Text 8"/>
          <p:cNvSpPr txBox="1"/>
          <p:nvPr/>
        </p:nvSpPr>
        <p:spPr>
          <a:xfrm>
            <a:off x="5486400" y="2204720"/>
            <a:ext cx="205740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지역 확인</a:t>
            </a:r>
          </a:p>
        </p:txBody>
      </p:sp>
      <p:sp>
        <p:nvSpPr>
          <p:cNvPr id="218" name="Text 9"/>
          <p:cNvSpPr txBox="1"/>
          <p:nvPr/>
        </p:nvSpPr>
        <p:spPr>
          <a:xfrm>
            <a:off x="4791455" y="2909570"/>
            <a:ext cx="269748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E6E6E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관광지명 주소/좌표 확인</a:t>
            </a:r>
          </a:p>
        </p:txBody>
      </p:sp>
      <p:pic>
        <p:nvPicPr>
          <p:cNvPr id="219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799831" y="2459735"/>
            <a:ext cx="384049" cy="384049"/>
          </a:xfrm>
          <a:prstGeom prst="rect">
            <a:avLst/>
          </a:prstGeom>
          <a:ln w="12700">
            <a:miter lim="400000"/>
          </a:ln>
        </p:spPr>
      </p:pic>
      <p:sp>
        <p:nvSpPr>
          <p:cNvPr id="220" name="Shape 10"/>
          <p:cNvSpPr/>
          <p:nvPr/>
        </p:nvSpPr>
        <p:spPr>
          <a:xfrm>
            <a:off x="8275319" y="1828799"/>
            <a:ext cx="3246121" cy="1645922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1" name="Text 11"/>
          <p:cNvSpPr txBox="1"/>
          <p:nvPr/>
        </p:nvSpPr>
        <p:spPr>
          <a:xfrm>
            <a:off x="8567928" y="2158491"/>
            <a:ext cx="91440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9FD8C6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22" name="Text 12"/>
          <p:cNvSpPr txBox="1"/>
          <p:nvPr/>
        </p:nvSpPr>
        <p:spPr>
          <a:xfrm>
            <a:off x="9281159" y="2204720"/>
            <a:ext cx="20574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코드 매핑</a:t>
            </a:r>
          </a:p>
        </p:txBody>
      </p:sp>
      <p:sp>
        <p:nvSpPr>
          <p:cNvPr id="223" name="Text 13"/>
          <p:cNvSpPr txBox="1"/>
          <p:nvPr/>
        </p:nvSpPr>
        <p:spPr>
          <a:xfrm>
            <a:off x="8586216" y="2909570"/>
            <a:ext cx="269748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E6E6E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areaCd · signguCd 변환</a:t>
            </a:r>
          </a:p>
        </p:txBody>
      </p:sp>
      <p:sp>
        <p:nvSpPr>
          <p:cNvPr id="224" name="Shape 14"/>
          <p:cNvSpPr/>
          <p:nvPr/>
        </p:nvSpPr>
        <p:spPr>
          <a:xfrm>
            <a:off x="685799" y="3977640"/>
            <a:ext cx="3246122" cy="1645921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5" name="Text 15"/>
          <p:cNvSpPr txBox="1"/>
          <p:nvPr/>
        </p:nvSpPr>
        <p:spPr>
          <a:xfrm>
            <a:off x="978408" y="4307331"/>
            <a:ext cx="91440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9FD8C6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26" name="Text 16"/>
          <p:cNvSpPr txBox="1"/>
          <p:nvPr/>
        </p:nvSpPr>
        <p:spPr>
          <a:xfrm>
            <a:off x="1691639" y="4353559"/>
            <a:ext cx="20574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API 호출</a:t>
            </a:r>
          </a:p>
        </p:txBody>
      </p:sp>
      <p:sp>
        <p:nvSpPr>
          <p:cNvPr id="227" name="Text 17"/>
          <p:cNvSpPr txBox="1"/>
          <p:nvPr/>
        </p:nvSpPr>
        <p:spPr>
          <a:xfrm>
            <a:off x="996695" y="5058410"/>
            <a:ext cx="269748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E6E6E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필요 데이터 선택 호출</a:t>
            </a:r>
          </a:p>
        </p:txBody>
      </p:sp>
      <p:pic>
        <p:nvPicPr>
          <p:cNvPr id="228" name="Image 2" descr="Imag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05071" y="4608576"/>
            <a:ext cx="384049" cy="384049"/>
          </a:xfrm>
          <a:prstGeom prst="rect">
            <a:avLst/>
          </a:prstGeom>
          <a:ln w="12700">
            <a:miter lim="400000"/>
          </a:ln>
        </p:spPr>
      </p:pic>
      <p:sp>
        <p:nvSpPr>
          <p:cNvPr id="229" name="Shape 18"/>
          <p:cNvSpPr/>
          <p:nvPr/>
        </p:nvSpPr>
        <p:spPr>
          <a:xfrm>
            <a:off x="4480559" y="3977640"/>
            <a:ext cx="3246121" cy="1645921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Text 19"/>
          <p:cNvSpPr txBox="1"/>
          <p:nvPr/>
        </p:nvSpPr>
        <p:spPr>
          <a:xfrm>
            <a:off x="4773167" y="4307331"/>
            <a:ext cx="91440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9FD8C6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231" name="Text 20"/>
          <p:cNvSpPr txBox="1"/>
          <p:nvPr/>
        </p:nvSpPr>
        <p:spPr>
          <a:xfrm>
            <a:off x="5486400" y="4353559"/>
            <a:ext cx="205740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데이터 해석</a:t>
            </a:r>
          </a:p>
        </p:txBody>
      </p:sp>
      <p:sp>
        <p:nvSpPr>
          <p:cNvPr id="232" name="Text 21"/>
          <p:cNvSpPr txBox="1"/>
          <p:nvPr/>
        </p:nvSpPr>
        <p:spPr>
          <a:xfrm>
            <a:off x="4791455" y="5058410"/>
            <a:ext cx="269748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E6E6E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방문자·수요·동선 조합</a:t>
            </a:r>
          </a:p>
        </p:txBody>
      </p:sp>
      <p:pic>
        <p:nvPicPr>
          <p:cNvPr id="233" name="Image 3" descr="Imag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799831" y="4608576"/>
            <a:ext cx="384049" cy="384049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Shape 22"/>
          <p:cNvSpPr/>
          <p:nvPr/>
        </p:nvSpPr>
        <p:spPr>
          <a:xfrm>
            <a:off x="8275319" y="3977640"/>
            <a:ext cx="3246121" cy="1645921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5" name="Text 23"/>
          <p:cNvSpPr txBox="1"/>
          <p:nvPr/>
        </p:nvSpPr>
        <p:spPr>
          <a:xfrm>
            <a:off x="8567928" y="4307331"/>
            <a:ext cx="914401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9FD8C6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236" name="Text 24"/>
          <p:cNvSpPr txBox="1"/>
          <p:nvPr/>
        </p:nvSpPr>
        <p:spPr>
          <a:xfrm>
            <a:off x="9281159" y="4353559"/>
            <a:ext cx="205740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리포트 생성</a:t>
            </a:r>
          </a:p>
        </p:txBody>
      </p:sp>
      <p:sp>
        <p:nvSpPr>
          <p:cNvPr id="237" name="Text 25"/>
          <p:cNvSpPr txBox="1"/>
          <p:nvPr/>
        </p:nvSpPr>
        <p:spPr>
          <a:xfrm>
            <a:off x="8586216" y="5058410"/>
            <a:ext cx="269748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E6E6E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아이템·리스크 제안</a:t>
            </a:r>
          </a:p>
        </p:txBody>
      </p:sp>
      <p:sp>
        <p:nvSpPr>
          <p:cNvPr id="238" name="Text 26"/>
          <p:cNvSpPr txBox="1"/>
          <p:nvPr/>
        </p:nvSpPr>
        <p:spPr>
          <a:xfrm>
            <a:off x="640079" y="6051550"/>
            <a:ext cx="1091153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5816B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한 API 결과만으로 결론을 내리지 않고, 여러 데이터 신호를 조합해 판단합니다.</a:t>
            </a:r>
          </a:p>
        </p:txBody>
      </p:sp>
      <p:sp>
        <p:nvSpPr>
          <p:cNvPr id="239" name="Text 27"/>
          <p:cNvSpPr txBox="1"/>
          <p:nvPr/>
        </p:nvSpPr>
        <p:spPr>
          <a:xfrm>
            <a:off x="640080" y="6468110"/>
            <a:ext cx="2743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9A9A9A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도반(Doban)</a:t>
            </a:r>
          </a:p>
        </p:txBody>
      </p:sp>
      <p:sp>
        <p:nvSpPr>
          <p:cNvPr id="240" name="Text 28"/>
          <p:cNvSpPr txBox="1"/>
          <p:nvPr/>
        </p:nvSpPr>
        <p:spPr>
          <a:xfrm>
            <a:off x="10637215" y="6468110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9A9A9A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8 / 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 0"/>
          <p:cNvSpPr txBox="1"/>
          <p:nvPr/>
        </p:nvSpPr>
        <p:spPr>
          <a:xfrm>
            <a:off x="640080" y="605281"/>
            <a:ext cx="82296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pc="100" sz="1200">
                <a:solidFill>
                  <a:srgbClr val="D93A32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06</a:t>
            </a:r>
            <a:r>
              <a:rPr>
                <a:solidFill>
                  <a:srgbClr val="6E6E6E"/>
                </a:solidFill>
              </a:rPr>
              <a:t>   OPEN API</a:t>
            </a:r>
          </a:p>
        </p:txBody>
      </p:sp>
      <p:sp>
        <p:nvSpPr>
          <p:cNvPr id="243" name="Text 1"/>
          <p:cNvSpPr txBox="1"/>
          <p:nvPr/>
        </p:nvSpPr>
        <p:spPr>
          <a:xfrm>
            <a:off x="640079" y="1024127"/>
            <a:ext cx="10911537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100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한국관광공사 OpenAPI 활용</a:t>
            </a:r>
          </a:p>
        </p:txBody>
      </p:sp>
      <p:sp>
        <p:nvSpPr>
          <p:cNvPr id="244" name="Text 2"/>
          <p:cNvSpPr txBox="1"/>
          <p:nvPr/>
        </p:nvSpPr>
        <p:spPr>
          <a:xfrm>
            <a:off x="9722815" y="1155700"/>
            <a:ext cx="18288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400">
                <a:solidFill>
                  <a:srgbClr val="D93A32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총 7종</a:t>
            </a:r>
          </a:p>
        </p:txBody>
      </p:sp>
      <p:graphicFrame>
        <p:nvGraphicFramePr>
          <p:cNvPr id="245" name="Table 0"/>
          <p:cNvGraphicFramePr/>
          <p:nvPr/>
        </p:nvGraphicFramePr>
        <p:xfrm>
          <a:off x="640080" y="1783079"/>
          <a:ext cx="10908792" cy="442569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640080"/>
                <a:gridCol w="3611880"/>
                <a:gridCol w="5010912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6E6E6E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#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9050">
                      <a:solidFill>
                        <a:srgbClr val="16161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6E6E6E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제출 API명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9050">
                      <a:solidFill>
                        <a:srgbClr val="16161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6E6E6E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활용 목적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9050">
                      <a:solidFill>
                        <a:srgbClr val="16161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6E6E6E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data.go.kr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9050">
                      <a:solidFill>
                        <a:srgbClr val="16161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D93A32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9050">
                      <a:solidFill>
                        <a:srgbClr val="161616"/>
                      </a:solidFill>
                    </a:lnT>
                    <a:lnB w="12700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C1C1C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관광 빅데이터 정보 서비스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9050">
                      <a:solidFill>
                        <a:srgbClr val="161616"/>
                      </a:solidFill>
                    </a:lnT>
                    <a:lnB w="12700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6E6E6E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지역별 방문자 규모와 관광 흐름 파악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9050">
                      <a:solidFill>
                        <a:srgbClr val="161616"/>
                      </a:solidFill>
                    </a:lnT>
                    <a:lnB w="12700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6E6E6E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15101972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9050">
                      <a:solidFill>
                        <a:srgbClr val="161616"/>
                      </a:solidFill>
                    </a:lnT>
                    <a:lnB w="12700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D93A32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E5E5E5"/>
                      </a:solidFill>
                    </a:lnT>
                    <a:lnB w="12700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C1C1C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지역별 관광 수요 강도 정보 서비스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E5E5E5"/>
                      </a:solidFill>
                    </a:lnT>
                    <a:lnB w="12700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6E6E6E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관광 체류 강도·관광 소비 강도 분석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E5E5E5"/>
                      </a:solidFill>
                    </a:lnT>
                    <a:lnB w="12700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6E6E6E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15151868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E5E5E5"/>
                      </a:solidFill>
                    </a:lnT>
                    <a:lnB w="12700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D93A32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E5E5E5"/>
                      </a:solidFill>
                    </a:lnT>
                    <a:lnB w="12700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C1C1C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웰니스 관광정보 서비스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E5E5E5"/>
                      </a:solidFill>
                    </a:lnT>
                    <a:lnB w="12700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6E6E6E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웰니스·힐링 창업 아이템과 지역 콘텐츠 후보 확인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E5E5E5"/>
                      </a:solidFill>
                    </a:lnT>
                    <a:lnB w="12700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6E6E6E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15144030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E5E5E5"/>
                      </a:solidFill>
                    </a:lnT>
                    <a:lnB w="12700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D93A32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E5E5E5"/>
                      </a:solidFill>
                    </a:lnT>
                    <a:lnB w="12700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C1C1C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관광지별 연관관광지 정보 서비스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E5E5E5"/>
                      </a:solidFill>
                    </a:lnT>
                    <a:lnB w="12700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6E6E6E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중심 관광지와 연결되는 주변 관광 동선 분석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E5E5E5"/>
                      </a:solidFill>
                    </a:lnT>
                    <a:lnB w="12700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6E6E6E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15128560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E5E5E5"/>
                      </a:solidFill>
                    </a:lnT>
                    <a:lnB w="12700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D93A32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E5E5E5"/>
                      </a:solidFill>
                    </a:lnT>
                    <a:lnB w="12700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C1C1C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지역별 관광 자원 수요 정보 서비스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E5E5E5"/>
                      </a:solidFill>
                    </a:lnT>
                    <a:lnB w="12700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6E6E6E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식음료·쇼핑·숙박·체험·문화/자연 자원 수요 분석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E5E5E5"/>
                      </a:solidFill>
                    </a:lnT>
                    <a:lnB w="12700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6E6E6E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15152138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E5E5E5"/>
                      </a:solidFill>
                    </a:lnT>
                    <a:lnB w="12700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D93A32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E5E5E5"/>
                      </a:solidFill>
                    </a:lnT>
                    <a:lnB w="12700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C1C1C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기초지자체 중심관광지 정보 서비스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E5E5E5"/>
                      </a:solidFill>
                    </a:lnT>
                    <a:lnB w="12700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6E6E6E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지역 내 관광 동선의 중심 거점 파악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E5E5E5"/>
                      </a:solidFill>
                    </a:lnT>
                    <a:lnB w="12700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6E6E6E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15128559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E5E5E5"/>
                      </a:solidFill>
                    </a:lnT>
                    <a:lnB w="12700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D93A32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7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E5E5E5"/>
                      </a:solidFill>
                    </a:lnT>
                    <a:lnB w="12700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1C1C1C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국문 관광정보 서비스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E5E5E5"/>
                      </a:solidFill>
                    </a:lnT>
                    <a:lnB w="12700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6E6E6E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관광지명 검색, 주소·좌표·contentId 확인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E5E5E5"/>
                      </a:solidFill>
                    </a:lnT>
                    <a:lnB w="12700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solidFill>
                            <a:srgbClr val="6E6E6E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15101578</a:t>
                      </a:r>
                    </a:p>
                  </a:txBody>
                  <a:tcPr marL="25400" marR="25400" marT="25400" marB="254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solidFill>
                        <a:srgbClr val="E5E5E5"/>
                      </a:solidFill>
                    </a:lnT>
                    <a:lnB w="12700">
                      <a:solidFill>
                        <a:srgbClr val="E5E5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6" name="Text 4"/>
          <p:cNvSpPr txBox="1"/>
          <p:nvPr/>
        </p:nvSpPr>
        <p:spPr>
          <a:xfrm>
            <a:off x="640080" y="6468110"/>
            <a:ext cx="2743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9A9A9A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도반(Doban)</a:t>
            </a:r>
          </a:p>
        </p:txBody>
      </p:sp>
      <p:sp>
        <p:nvSpPr>
          <p:cNvPr id="247" name="Text 5"/>
          <p:cNvSpPr txBox="1"/>
          <p:nvPr/>
        </p:nvSpPr>
        <p:spPr>
          <a:xfrm>
            <a:off x="10637215" y="6468110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9A9A9A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9 / 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 0"/>
          <p:cNvSpPr txBox="1"/>
          <p:nvPr/>
        </p:nvSpPr>
        <p:spPr>
          <a:xfrm>
            <a:off x="640080" y="605281"/>
            <a:ext cx="82296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pc="100" sz="1200">
                <a:solidFill>
                  <a:srgbClr val="D93A32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07</a:t>
            </a:r>
            <a:r>
              <a:rPr>
                <a:solidFill>
                  <a:srgbClr val="6E6E6E"/>
                </a:solidFill>
              </a:rPr>
              <a:t>   ITERATION</a:t>
            </a:r>
          </a:p>
        </p:txBody>
      </p:sp>
      <p:sp>
        <p:nvSpPr>
          <p:cNvPr id="250" name="Text 1"/>
          <p:cNvSpPr txBox="1"/>
          <p:nvPr/>
        </p:nvSpPr>
        <p:spPr>
          <a:xfrm>
            <a:off x="640079" y="1024127"/>
            <a:ext cx="10911537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100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시행착오와 개선</a:t>
            </a:r>
          </a:p>
        </p:txBody>
      </p:sp>
      <p:sp>
        <p:nvSpPr>
          <p:cNvPr id="251" name="Shape 2"/>
          <p:cNvSpPr/>
          <p:nvPr/>
        </p:nvSpPr>
        <p:spPr>
          <a:xfrm>
            <a:off x="640079" y="1691639"/>
            <a:ext cx="5227170" cy="201168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2" name="Text 3"/>
          <p:cNvSpPr txBox="1"/>
          <p:nvPr/>
        </p:nvSpPr>
        <p:spPr>
          <a:xfrm>
            <a:off x="1005839" y="2017522"/>
            <a:ext cx="82296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9FD8C6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53" name="Text 4"/>
          <p:cNvSpPr txBox="1"/>
          <p:nvPr/>
        </p:nvSpPr>
        <p:spPr>
          <a:xfrm>
            <a:off x="1783079" y="2022348"/>
            <a:ext cx="100584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93A32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시행착오</a:t>
            </a:r>
          </a:p>
        </p:txBody>
      </p:sp>
      <p:sp>
        <p:nvSpPr>
          <p:cNvPr id="254" name="Text 5"/>
          <p:cNvSpPr txBox="1"/>
          <p:nvPr/>
        </p:nvSpPr>
        <p:spPr>
          <a:xfrm>
            <a:off x="2834639" y="1984248"/>
            <a:ext cx="284972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1C1C1C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관광 정보/데이터랩 API의 지역코드 체계 상이</a:t>
            </a:r>
          </a:p>
        </p:txBody>
      </p:sp>
      <p:sp>
        <p:nvSpPr>
          <p:cNvPr id="255" name="Text 6"/>
          <p:cNvSpPr txBox="1"/>
          <p:nvPr/>
        </p:nvSpPr>
        <p:spPr>
          <a:xfrm>
            <a:off x="1783079" y="2552699"/>
            <a:ext cx="100584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5816B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개선시도</a:t>
            </a:r>
          </a:p>
        </p:txBody>
      </p:sp>
      <p:sp>
        <p:nvSpPr>
          <p:cNvPr id="256" name="Text 7"/>
          <p:cNvSpPr txBox="1"/>
          <p:nvPr/>
        </p:nvSpPr>
        <p:spPr>
          <a:xfrm>
            <a:off x="2834639" y="2514599"/>
            <a:ext cx="275828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1C1C1C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지역명 · 시군구 코드 CSV 정제 및 업로드</a:t>
            </a:r>
          </a:p>
        </p:txBody>
      </p:sp>
      <p:sp>
        <p:nvSpPr>
          <p:cNvPr id="257" name="Text 8"/>
          <p:cNvSpPr txBox="1"/>
          <p:nvPr/>
        </p:nvSpPr>
        <p:spPr>
          <a:xfrm>
            <a:off x="1783079" y="3083051"/>
            <a:ext cx="100584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개선결과</a:t>
            </a:r>
          </a:p>
        </p:txBody>
      </p:sp>
      <p:sp>
        <p:nvSpPr>
          <p:cNvPr id="258" name="Text 9"/>
          <p:cNvSpPr txBox="1"/>
          <p:nvPr/>
        </p:nvSpPr>
        <p:spPr>
          <a:xfrm>
            <a:off x="2834639" y="3044951"/>
            <a:ext cx="332370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1C1C1C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API별 파라미터 혼동 줄이고 안정적인 호출 기반 마련</a:t>
            </a:r>
          </a:p>
        </p:txBody>
      </p:sp>
      <p:sp>
        <p:nvSpPr>
          <p:cNvPr id="259" name="Shape 10"/>
          <p:cNvSpPr/>
          <p:nvPr/>
        </p:nvSpPr>
        <p:spPr>
          <a:xfrm>
            <a:off x="6324447" y="1691639"/>
            <a:ext cx="5227170" cy="201168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0" name="Text 11"/>
          <p:cNvSpPr txBox="1"/>
          <p:nvPr/>
        </p:nvSpPr>
        <p:spPr>
          <a:xfrm>
            <a:off x="6690207" y="2017522"/>
            <a:ext cx="82296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9FD8C6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61" name="Text 12"/>
          <p:cNvSpPr txBox="1"/>
          <p:nvPr/>
        </p:nvSpPr>
        <p:spPr>
          <a:xfrm>
            <a:off x="7467448" y="2022348"/>
            <a:ext cx="100584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93A32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시행착오</a:t>
            </a:r>
          </a:p>
        </p:txBody>
      </p:sp>
      <p:sp>
        <p:nvSpPr>
          <p:cNvPr id="262" name="Text 13"/>
          <p:cNvSpPr txBox="1"/>
          <p:nvPr/>
        </p:nvSpPr>
        <p:spPr>
          <a:xfrm>
            <a:off x="8519007" y="1984248"/>
            <a:ext cx="275828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1C1C1C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행정구역과 관광지명을 섞어 입력</a:t>
            </a:r>
          </a:p>
        </p:txBody>
      </p:sp>
      <p:sp>
        <p:nvSpPr>
          <p:cNvPr id="263" name="Text 14"/>
          <p:cNvSpPr txBox="1"/>
          <p:nvPr/>
        </p:nvSpPr>
        <p:spPr>
          <a:xfrm>
            <a:off x="7467448" y="2552699"/>
            <a:ext cx="100584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5816B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개선시도</a:t>
            </a:r>
          </a:p>
        </p:txBody>
      </p:sp>
      <p:sp>
        <p:nvSpPr>
          <p:cNvPr id="264" name="Text 15"/>
          <p:cNvSpPr txBox="1"/>
          <p:nvPr/>
        </p:nvSpPr>
        <p:spPr>
          <a:xfrm>
            <a:off x="8519007" y="2514599"/>
            <a:ext cx="319794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1C1C1C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국문 관광정보 검색 후 주소 기준으로 지역코드 매핑</a:t>
            </a:r>
          </a:p>
        </p:txBody>
      </p:sp>
      <p:sp>
        <p:nvSpPr>
          <p:cNvPr id="265" name="Text 16"/>
          <p:cNvSpPr txBox="1"/>
          <p:nvPr/>
        </p:nvSpPr>
        <p:spPr>
          <a:xfrm>
            <a:off x="7467448" y="3083051"/>
            <a:ext cx="100584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개선결과</a:t>
            </a:r>
          </a:p>
        </p:txBody>
      </p:sp>
      <p:sp>
        <p:nvSpPr>
          <p:cNvPr id="266" name="Text 17"/>
          <p:cNvSpPr txBox="1"/>
          <p:nvPr/>
        </p:nvSpPr>
        <p:spPr>
          <a:xfrm>
            <a:off x="8519007" y="3044951"/>
            <a:ext cx="275828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1C1C1C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관광지명도 분석 가능한 행정구역으로 변환</a:t>
            </a:r>
          </a:p>
        </p:txBody>
      </p:sp>
      <p:sp>
        <p:nvSpPr>
          <p:cNvPr id="267" name="Shape 18"/>
          <p:cNvSpPr/>
          <p:nvPr/>
        </p:nvSpPr>
        <p:spPr>
          <a:xfrm>
            <a:off x="640079" y="3977640"/>
            <a:ext cx="5227170" cy="201168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Text 19"/>
          <p:cNvSpPr txBox="1"/>
          <p:nvPr/>
        </p:nvSpPr>
        <p:spPr>
          <a:xfrm>
            <a:off x="1005839" y="4303521"/>
            <a:ext cx="82296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9FD8C6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69" name="Text 20"/>
          <p:cNvSpPr txBox="1"/>
          <p:nvPr/>
        </p:nvSpPr>
        <p:spPr>
          <a:xfrm>
            <a:off x="1783079" y="4308347"/>
            <a:ext cx="100584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93A32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시행착오</a:t>
            </a:r>
          </a:p>
        </p:txBody>
      </p:sp>
      <p:sp>
        <p:nvSpPr>
          <p:cNvPr id="270" name="Text 21"/>
          <p:cNvSpPr txBox="1"/>
          <p:nvPr/>
        </p:nvSpPr>
        <p:spPr>
          <a:xfrm>
            <a:off x="2834639" y="4270247"/>
            <a:ext cx="3043448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1C1C1C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고정 기준월이나 단일월 데이터에 의존할 위험</a:t>
            </a:r>
          </a:p>
        </p:txBody>
      </p:sp>
      <p:sp>
        <p:nvSpPr>
          <p:cNvPr id="271" name="Text 22"/>
          <p:cNvSpPr txBox="1"/>
          <p:nvPr/>
        </p:nvSpPr>
        <p:spPr>
          <a:xfrm>
            <a:off x="1783079" y="4838699"/>
            <a:ext cx="100584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5816B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개선시도</a:t>
            </a:r>
          </a:p>
        </p:txBody>
      </p:sp>
      <p:sp>
        <p:nvSpPr>
          <p:cNvPr id="272" name="Text 23"/>
          <p:cNvSpPr txBox="1"/>
          <p:nvPr/>
        </p:nvSpPr>
        <p:spPr>
          <a:xfrm>
            <a:off x="2834639" y="4800599"/>
            <a:ext cx="332370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1C1C1C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조회 가능한 최신월과 최근 3~6개월 흐름을 우선 확인</a:t>
            </a:r>
          </a:p>
        </p:txBody>
      </p:sp>
      <p:sp>
        <p:nvSpPr>
          <p:cNvPr id="273" name="Text 24"/>
          <p:cNvSpPr txBox="1"/>
          <p:nvPr/>
        </p:nvSpPr>
        <p:spPr>
          <a:xfrm>
            <a:off x="1783079" y="5369052"/>
            <a:ext cx="100584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개선결과</a:t>
            </a:r>
          </a:p>
        </p:txBody>
      </p:sp>
      <p:sp>
        <p:nvSpPr>
          <p:cNvPr id="274" name="Text 25"/>
          <p:cNvSpPr txBox="1"/>
          <p:nvPr/>
        </p:nvSpPr>
        <p:spPr>
          <a:xfrm>
            <a:off x="2834639" y="5330952"/>
            <a:ext cx="275828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1C1C1C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더 최근성 있는 창업 판단 근거 제공</a:t>
            </a:r>
          </a:p>
        </p:txBody>
      </p:sp>
      <p:sp>
        <p:nvSpPr>
          <p:cNvPr id="275" name="Shape 26"/>
          <p:cNvSpPr/>
          <p:nvPr/>
        </p:nvSpPr>
        <p:spPr>
          <a:xfrm>
            <a:off x="6324447" y="3977640"/>
            <a:ext cx="5227170" cy="2011680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6" name="Text 27"/>
          <p:cNvSpPr txBox="1"/>
          <p:nvPr/>
        </p:nvSpPr>
        <p:spPr>
          <a:xfrm>
            <a:off x="6690207" y="4303521"/>
            <a:ext cx="82296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9FD8C6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77" name="Text 28"/>
          <p:cNvSpPr txBox="1"/>
          <p:nvPr/>
        </p:nvSpPr>
        <p:spPr>
          <a:xfrm>
            <a:off x="7467448" y="4308347"/>
            <a:ext cx="100584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93A32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시행착오</a:t>
            </a:r>
          </a:p>
        </p:txBody>
      </p:sp>
      <p:sp>
        <p:nvSpPr>
          <p:cNvPr id="278" name="Text 29"/>
          <p:cNvSpPr txBox="1"/>
          <p:nvPr/>
        </p:nvSpPr>
        <p:spPr>
          <a:xfrm>
            <a:off x="8519007" y="4270247"/>
            <a:ext cx="275828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1C1C1C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추천이 과장될 위험이 있음</a:t>
            </a:r>
          </a:p>
        </p:txBody>
      </p:sp>
      <p:sp>
        <p:nvSpPr>
          <p:cNvPr id="279" name="Text 30"/>
          <p:cNvSpPr txBox="1"/>
          <p:nvPr/>
        </p:nvSpPr>
        <p:spPr>
          <a:xfrm>
            <a:off x="7467448" y="4838699"/>
            <a:ext cx="100584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5816B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개선시도</a:t>
            </a:r>
          </a:p>
        </p:txBody>
      </p:sp>
      <p:sp>
        <p:nvSpPr>
          <p:cNvPr id="280" name="Text 31"/>
          <p:cNvSpPr txBox="1"/>
          <p:nvPr/>
        </p:nvSpPr>
        <p:spPr>
          <a:xfrm>
            <a:off x="8519007" y="4800599"/>
            <a:ext cx="2758289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1C1C1C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프롬프트에 금지사항·데이터 한계 명시</a:t>
            </a:r>
          </a:p>
        </p:txBody>
      </p:sp>
      <p:sp>
        <p:nvSpPr>
          <p:cNvPr id="281" name="Text 32"/>
          <p:cNvSpPr txBox="1"/>
          <p:nvPr/>
        </p:nvSpPr>
        <p:spPr>
          <a:xfrm>
            <a:off x="7467448" y="5369052"/>
            <a:ext cx="100584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C1C1C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개선결과</a:t>
            </a:r>
          </a:p>
        </p:txBody>
      </p:sp>
      <p:sp>
        <p:nvSpPr>
          <p:cNvPr id="282" name="Text 33"/>
          <p:cNvSpPr txBox="1"/>
          <p:nvPr/>
        </p:nvSpPr>
        <p:spPr>
          <a:xfrm>
            <a:off x="8519007" y="5330952"/>
            <a:ext cx="3197944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1C1C1C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리스크와 추가 확인사항 포함한 보수적 리포트 생성</a:t>
            </a:r>
          </a:p>
        </p:txBody>
      </p:sp>
      <p:sp>
        <p:nvSpPr>
          <p:cNvPr id="283" name="Text 34"/>
          <p:cNvSpPr txBox="1"/>
          <p:nvPr/>
        </p:nvSpPr>
        <p:spPr>
          <a:xfrm>
            <a:off x="640080" y="6468110"/>
            <a:ext cx="2743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9A9A9A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도반(Doban)</a:t>
            </a:r>
          </a:p>
        </p:txBody>
      </p:sp>
      <p:sp>
        <p:nvSpPr>
          <p:cNvPr id="284" name="Text 35"/>
          <p:cNvSpPr txBox="1"/>
          <p:nvPr/>
        </p:nvSpPr>
        <p:spPr>
          <a:xfrm>
            <a:off x="10637215" y="6468110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9A9A9A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10 / 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Text 0"/>
          <p:cNvSpPr txBox="1"/>
          <p:nvPr/>
        </p:nvSpPr>
        <p:spPr>
          <a:xfrm>
            <a:off x="8138159" y="894080"/>
            <a:ext cx="4023360" cy="497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3000">
                <a:solidFill>
                  <a:srgbClr val="1E1E1E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伴</a:t>
            </a:r>
          </a:p>
        </p:txBody>
      </p:sp>
      <p:sp>
        <p:nvSpPr>
          <p:cNvPr id="287" name="Text 1"/>
          <p:cNvSpPr txBox="1"/>
          <p:nvPr/>
        </p:nvSpPr>
        <p:spPr>
          <a:xfrm>
            <a:off x="640080" y="605281"/>
            <a:ext cx="73152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pc="100" sz="1200">
                <a:solidFill>
                  <a:srgbClr val="F0655D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08</a:t>
            </a:r>
            <a:r>
              <a:rPr>
                <a:solidFill>
                  <a:srgbClr val="8C8C8C"/>
                </a:solidFill>
              </a:rPr>
              <a:t>   CLOSING</a:t>
            </a:r>
          </a:p>
        </p:txBody>
      </p:sp>
      <p:sp>
        <p:nvSpPr>
          <p:cNvPr id="288" name="Text 2"/>
          <p:cNvSpPr txBox="1"/>
          <p:nvPr/>
        </p:nvSpPr>
        <p:spPr>
          <a:xfrm>
            <a:off x="640079" y="1024127"/>
            <a:ext cx="10911537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100">
                <a:solidFill>
                  <a:srgbClr val="FFFFFF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기대효과 및 발전계획</a:t>
            </a:r>
          </a:p>
        </p:txBody>
      </p:sp>
      <p:sp>
        <p:nvSpPr>
          <p:cNvPr id="289" name="Shape 3"/>
          <p:cNvSpPr/>
          <p:nvPr/>
        </p:nvSpPr>
        <p:spPr>
          <a:xfrm>
            <a:off x="640079" y="1874520"/>
            <a:ext cx="3423820" cy="2377441"/>
          </a:xfrm>
          <a:prstGeom prst="rect">
            <a:avLst/>
          </a:prstGeom>
          <a:solidFill>
            <a:srgbClr val="2121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0" name="Shape 4"/>
          <p:cNvSpPr/>
          <p:nvPr/>
        </p:nvSpPr>
        <p:spPr>
          <a:xfrm>
            <a:off x="640079" y="1874520"/>
            <a:ext cx="3423820" cy="64009"/>
          </a:xfrm>
          <a:prstGeom prst="rect">
            <a:avLst/>
          </a:prstGeom>
          <a:solidFill>
            <a:srgbClr val="1581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9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5839" y="2212848"/>
            <a:ext cx="457201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292" name="Text 5"/>
          <p:cNvSpPr txBox="1"/>
          <p:nvPr/>
        </p:nvSpPr>
        <p:spPr>
          <a:xfrm>
            <a:off x="1005839" y="2867660"/>
            <a:ext cx="2692299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FFFFF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제품 관점</a:t>
            </a:r>
          </a:p>
        </p:txBody>
      </p:sp>
      <p:sp>
        <p:nvSpPr>
          <p:cNvPr id="293" name="Text 6"/>
          <p:cNvSpPr txBox="1"/>
          <p:nvPr/>
        </p:nvSpPr>
        <p:spPr>
          <a:xfrm>
            <a:off x="1005839" y="3460432"/>
            <a:ext cx="2738019" cy="485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5000"/>
              </a:lnSpc>
              <a:defRPr sz="1200">
                <a:solidFill>
                  <a:srgbClr val="DDDDDD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예비창업자가 지역 후보와 창업 아이템을 </a:t>
            </a:r>
          </a:p>
          <a:p>
            <a:pPr>
              <a:lnSpc>
                <a:spcPct val="125000"/>
              </a:lnSpc>
              <a:defRPr sz="1200">
                <a:solidFill>
                  <a:srgbClr val="DDDDDD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빠르게 비교 검토할 수 있습니다.</a:t>
            </a:r>
          </a:p>
        </p:txBody>
      </p:sp>
      <p:sp>
        <p:nvSpPr>
          <p:cNvPr id="294" name="Shape 7"/>
          <p:cNvSpPr/>
          <p:nvPr/>
        </p:nvSpPr>
        <p:spPr>
          <a:xfrm>
            <a:off x="4383937" y="1874520"/>
            <a:ext cx="3423819" cy="2377441"/>
          </a:xfrm>
          <a:prstGeom prst="rect">
            <a:avLst/>
          </a:prstGeom>
          <a:solidFill>
            <a:srgbClr val="2121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Shape 8"/>
          <p:cNvSpPr/>
          <p:nvPr/>
        </p:nvSpPr>
        <p:spPr>
          <a:xfrm>
            <a:off x="4383937" y="1874520"/>
            <a:ext cx="3423819" cy="64009"/>
          </a:xfrm>
          <a:prstGeom prst="rect">
            <a:avLst/>
          </a:prstGeom>
          <a:solidFill>
            <a:srgbClr val="1581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96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49698" y="2212848"/>
            <a:ext cx="457201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297" name="Text 9"/>
          <p:cNvSpPr txBox="1"/>
          <p:nvPr/>
        </p:nvSpPr>
        <p:spPr>
          <a:xfrm>
            <a:off x="4749698" y="2867660"/>
            <a:ext cx="2692299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FFFFF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사업 관점</a:t>
            </a:r>
          </a:p>
        </p:txBody>
      </p:sp>
      <p:sp>
        <p:nvSpPr>
          <p:cNvPr id="298" name="Text 10"/>
          <p:cNvSpPr txBox="1"/>
          <p:nvPr/>
        </p:nvSpPr>
        <p:spPr>
          <a:xfrm>
            <a:off x="4749698" y="3460432"/>
            <a:ext cx="2738019" cy="485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5000"/>
              </a:lnSpc>
              <a:defRPr sz="1200">
                <a:solidFill>
                  <a:srgbClr val="DDDDDD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소상공인, 로컬 창업자, 지자체 창업 지원 </a:t>
            </a:r>
          </a:p>
          <a:p>
            <a:pPr>
              <a:lnSpc>
                <a:spcPct val="125000"/>
              </a:lnSpc>
              <a:defRPr sz="1200">
                <a:solidFill>
                  <a:srgbClr val="DDDDDD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프로그램으로 확장할 수 있습니다.</a:t>
            </a:r>
          </a:p>
        </p:txBody>
      </p:sp>
      <p:sp>
        <p:nvSpPr>
          <p:cNvPr id="299" name="Shape 11"/>
          <p:cNvSpPr/>
          <p:nvPr/>
        </p:nvSpPr>
        <p:spPr>
          <a:xfrm>
            <a:off x="8127796" y="1874520"/>
            <a:ext cx="3423819" cy="2377441"/>
          </a:xfrm>
          <a:prstGeom prst="rect">
            <a:avLst/>
          </a:prstGeom>
          <a:solidFill>
            <a:srgbClr val="21212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0" name="Shape 12"/>
          <p:cNvSpPr/>
          <p:nvPr/>
        </p:nvSpPr>
        <p:spPr>
          <a:xfrm>
            <a:off x="8127796" y="1874520"/>
            <a:ext cx="3423819" cy="64009"/>
          </a:xfrm>
          <a:prstGeom prst="rect">
            <a:avLst/>
          </a:prstGeom>
          <a:solidFill>
            <a:srgbClr val="15816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01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493556" y="2212848"/>
            <a:ext cx="457201" cy="457201"/>
          </a:xfrm>
          <a:prstGeom prst="rect">
            <a:avLst/>
          </a:prstGeom>
          <a:ln w="12700">
            <a:miter lim="400000"/>
          </a:ln>
        </p:spPr>
      </p:pic>
      <p:sp>
        <p:nvSpPr>
          <p:cNvPr id="302" name="Text 13"/>
          <p:cNvSpPr txBox="1"/>
          <p:nvPr/>
        </p:nvSpPr>
        <p:spPr>
          <a:xfrm>
            <a:off x="8493556" y="2867660"/>
            <a:ext cx="2692299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FFFFF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기술 관점</a:t>
            </a:r>
          </a:p>
        </p:txBody>
      </p:sp>
      <p:sp>
        <p:nvSpPr>
          <p:cNvPr id="303" name="Text 14"/>
          <p:cNvSpPr txBox="1"/>
          <p:nvPr/>
        </p:nvSpPr>
        <p:spPr>
          <a:xfrm>
            <a:off x="8493556" y="3460432"/>
            <a:ext cx="2844299" cy="485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5000"/>
              </a:lnSpc>
              <a:defRPr sz="1200">
                <a:solidFill>
                  <a:srgbClr val="DDDDDD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OpenAPI와 생성형 AI를 결합해 관광 </a:t>
            </a:r>
          </a:p>
          <a:p>
            <a:pPr>
              <a:lnSpc>
                <a:spcPct val="125000"/>
              </a:lnSpc>
              <a:defRPr sz="1200">
                <a:solidFill>
                  <a:srgbClr val="DDDDDD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데이터를 의사결정 보조 리포트로 변환합니다.</a:t>
            </a:r>
          </a:p>
        </p:txBody>
      </p:sp>
      <p:sp>
        <p:nvSpPr>
          <p:cNvPr id="304" name="Text 15"/>
          <p:cNvSpPr txBox="1"/>
          <p:nvPr/>
        </p:nvSpPr>
        <p:spPr>
          <a:xfrm>
            <a:off x="640079" y="4817109"/>
            <a:ext cx="1091153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F0655D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발전계획   </a:t>
            </a:r>
            <a:r>
              <a:rPr b="0">
                <a:solidFill>
                  <a:srgbClr val="DDDDDD"/>
                </a:solidFill>
              </a:rPr>
              <a:t>지역 간 비교 분석 · 업종별 리포트 템플릿 고도화 · 지도 기반 관광 동선 시각화 · 상권 데이터, 임대료, 겅쟁 매장 데이터 연계</a:t>
            </a:r>
          </a:p>
        </p:txBody>
      </p:sp>
      <p:sp>
        <p:nvSpPr>
          <p:cNvPr id="305" name="Shape 16"/>
          <p:cNvSpPr/>
          <p:nvPr/>
        </p:nvSpPr>
        <p:spPr>
          <a:xfrm>
            <a:off x="640079" y="5349240"/>
            <a:ext cx="10911536" cy="1"/>
          </a:xfrm>
          <a:prstGeom prst="line">
            <a:avLst/>
          </a:prstGeom>
          <a:ln w="12700">
            <a:solidFill>
              <a:srgbClr val="34343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6" name="Text 35"/>
          <p:cNvSpPr txBox="1"/>
          <p:nvPr/>
        </p:nvSpPr>
        <p:spPr>
          <a:xfrm>
            <a:off x="10637215" y="6468109"/>
            <a:ext cx="9144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800">
                <a:solidFill>
                  <a:srgbClr val="9A9A9A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</a:lstStyle>
          <a:p>
            <a:pPr/>
            <a:r>
              <a:t>11 / 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 0"/>
          <p:cNvSpPr txBox="1"/>
          <p:nvPr/>
        </p:nvSpPr>
        <p:spPr>
          <a:xfrm>
            <a:off x="8138159" y="894080"/>
            <a:ext cx="4023360" cy="497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33000">
                <a:solidFill>
                  <a:srgbClr val="1E1E1E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道</a:t>
            </a:r>
          </a:p>
        </p:txBody>
      </p:sp>
      <p:sp>
        <p:nvSpPr>
          <p:cNvPr id="309" name="Text 2"/>
          <p:cNvSpPr txBox="1"/>
          <p:nvPr/>
        </p:nvSpPr>
        <p:spPr>
          <a:xfrm>
            <a:off x="831936" y="2964179"/>
            <a:ext cx="3840481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5800">
                <a:solidFill>
                  <a:srgbClr val="FFFFFF"/>
                </a:solidFill>
                <a:latin typeface="나눔명조"/>
                <a:ea typeface="나눔명조"/>
                <a:cs typeface="나눔명조"/>
                <a:sym typeface="나눔명조"/>
              </a:defRPr>
            </a:lvl1pPr>
          </a:lstStyle>
          <a:p>
            <a:pPr/>
            <a:r>
              <a:t>감사합니다.</a:t>
            </a:r>
          </a:p>
        </p:txBody>
      </p:sp>
      <p:sp>
        <p:nvSpPr>
          <p:cNvPr id="310" name="Text 3"/>
          <p:cNvSpPr txBox="1"/>
          <p:nvPr/>
        </p:nvSpPr>
        <p:spPr>
          <a:xfrm>
            <a:off x="8321039" y="5321300"/>
            <a:ext cx="365760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>
                <a:solidFill>
                  <a:srgbClr val="8FD3C0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道伴</a:t>
            </a:r>
            <a:r>
              <a:rPr b="0">
                <a:solidFill>
                  <a:srgbClr val="8C8C8C"/>
                </a:solidFill>
              </a:rPr>
              <a:t>   Doban</a:t>
            </a:r>
          </a:p>
        </p:txBody>
      </p:sp>
      <p:sp>
        <p:nvSpPr>
          <p:cNvPr id="311" name="Shape 8"/>
          <p:cNvSpPr/>
          <p:nvPr/>
        </p:nvSpPr>
        <p:spPr>
          <a:xfrm>
            <a:off x="822960" y="5486400"/>
            <a:ext cx="6766560" cy="0"/>
          </a:xfrm>
          <a:prstGeom prst="line">
            <a:avLst/>
          </a:prstGeom>
          <a:ln w="12700">
            <a:solidFill>
              <a:srgbClr val="34343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2" name="Text 9"/>
          <p:cNvSpPr txBox="1"/>
          <p:nvPr/>
        </p:nvSpPr>
        <p:spPr>
          <a:xfrm>
            <a:off x="822960" y="5731509"/>
            <a:ext cx="7315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8C8C8C"/>
                </a:solidFill>
                <a:latin typeface="Noto Sans KR"/>
                <a:ea typeface="Noto Sans KR"/>
                <a:cs typeface="Noto Sans KR"/>
                <a:sym typeface="Noto Sans KR"/>
              </a:defRPr>
            </a:pPr>
            <a:r>
              <a:t>제출일  </a:t>
            </a:r>
            <a:r>
              <a:rPr b="0">
                <a:solidFill>
                  <a:srgbClr val="FFFFFF"/>
                </a:solidFill>
              </a:rPr>
              <a:t>2026. 06. 09.</a:t>
            </a:r>
            <a:r>
              <a:t>        팀  </a:t>
            </a:r>
            <a:r>
              <a:rPr>
                <a:solidFill>
                  <a:srgbClr val="FFFFFF"/>
                </a:solidFill>
              </a:rPr>
              <a:t>도반</a:t>
            </a:r>
            <a:r>
              <a:rPr b="0">
                <a:solidFill>
                  <a:srgbClr val="DDDDDD"/>
                </a:solidFill>
              </a:rPr>
              <a:t>   전민정 · 안중현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
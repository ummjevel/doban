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oto Sans KR"/>
      <p:regular r:id="rId20"/>
      <p:bold r:id="rId21"/>
    </p:embeddedFont>
    <p:embeddedFont>
      <p:font typeface="Gothic A1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826E36-F4B4-43C7-A6BA-13248B7EEA96}">
  <a:tblStyle styleId="{55826E36-F4B4-43C7-A6BA-13248B7EEA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?>
<Relationships xmlns="http://schemas.openxmlformats.org/package/2006/relationships"><Relationship Id="rId20" Type="http://schemas.openxmlformats.org/officeDocument/2006/relationships/font" Target="fonts/NotoSansKR-regular.fntdata" /><Relationship Id="rId11" Type="http://schemas.openxmlformats.org/officeDocument/2006/relationships/slide" Target="slides/slide5.xml" /><Relationship Id="rId22" Type="http://schemas.openxmlformats.org/officeDocument/2006/relationships/font" Target="fonts/GothicA1-regular.fntdata" /><Relationship Id="rId10" Type="http://schemas.openxmlformats.org/officeDocument/2006/relationships/slide" Target="slides/slide4.xml" /><Relationship Id="rId21" Type="http://schemas.openxmlformats.org/officeDocument/2006/relationships/font" Target="fonts/NotoSansKR-bold.fntdata" /><Relationship Id="rId13" Type="http://schemas.openxmlformats.org/officeDocument/2006/relationships/slide" Target="slides/slide7.xml" /><Relationship Id="rId12" Type="http://schemas.openxmlformats.org/officeDocument/2006/relationships/slide" Target="slides/slide6.xml" /><Relationship Id="rId23" Type="http://schemas.openxmlformats.org/officeDocument/2006/relationships/font" Target="fonts/GothicA1-bold.fntdata" /><Relationship Id="rId1" Type="http://schemas.openxmlformats.org/officeDocument/2006/relationships/theme" Target="theme/theme1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Relationship Id="rId9" Type="http://schemas.openxmlformats.org/officeDocument/2006/relationships/slide" Target="slides/slide3.xml" /><Relationship Id="rId15" Type="http://schemas.openxmlformats.org/officeDocument/2006/relationships/slide" Target="slides/slide9.xml" /><Relationship Id="rId14" Type="http://schemas.openxmlformats.org/officeDocument/2006/relationships/slide" Target="slides/slide8.xml" /><Relationship Id="rId17" Type="http://schemas.openxmlformats.org/officeDocument/2006/relationships/slide" Target="slides/slide11.xml" /><Relationship Id="rId16" Type="http://schemas.openxmlformats.org/officeDocument/2006/relationships/slide" Target="slides/slide10.xml" /><Relationship Id="rId5" Type="http://schemas.openxmlformats.org/officeDocument/2006/relationships/slideMaster" Target="slideMasters/slideMaster1.xml" /><Relationship Id="rId19" Type="http://schemas.openxmlformats.org/officeDocument/2006/relationships/slide" Target="slides/slide13.xml" /><Relationship Id="rId6" Type="http://schemas.openxmlformats.org/officeDocument/2006/relationships/notesMaster" Target="notesMasters/notesMaster1.xml" /><Relationship Id="rId18" Type="http://schemas.openxmlformats.org/officeDocument/2006/relationships/slide" Target="slides/slide12.xml" /><Relationship Id="rId8" Type="http://schemas.openxmlformats.org/officeDocument/2006/relationships/slide" Target="slides/slide2.xml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579faa35_3_5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579faa35_3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b579faa35_3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b579faa3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579faa35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579faa35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579faa35_3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579faa35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579faa35_3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579faa35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79faa35_3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79faa35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579faa35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579faa35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b579faa35_3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b579faa35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579faa35_3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579faa35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b579faa35_3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b579faa35_3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579faa35_3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579faa35_3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579faa35_3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b579faa35_3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579faa35_3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b579faa35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8993" y="1352075"/>
            <a:ext cx="88149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양식 가이드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반드시 </a:t>
            </a:r>
            <a:r>
              <a:rPr b="1"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사본</a:t>
            </a: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저장해서 사용해주세요. </a:t>
            </a:r>
            <a:r>
              <a:rPr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(파일 → 사본 만들기 → 프레젠테이션 전체) *본 가이드 페이지는 삭제 후 사용)</a:t>
            </a:r>
            <a:endParaRPr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2. 작성이 완료되면 PDF 또는 PPT, PPTX로 저장하여 제출해주세요. 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정해진 양식 이 외에 페이지 추가해서 사용하셔도 됩니다. (10장 내외 권장)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4. 발표 시간 10분 이내로 자유롭게 구성해주세요.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066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58912" y="996742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9008" y="1352086"/>
            <a:ext cx="46650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7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381275" y="3870394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8201" y="184950"/>
            <a:ext cx="318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9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700000" y="8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300" b="1">
                <a:solidFill>
                  <a:srgbClr val="222222"/>
                </a:solidFill>
                <a:latin typeface="Noto Sans CJK KR"/>
                <a:ea typeface="Noto Sans CJK KR"/>
              </a:rPr>
              <a:t>도반(Doban)</a:t>
            </a:r>
            <a:endParaRPr lang="ko-KR" sz="2300"/>
          </a:p>
        </p:txBody>
      </p:sp>
      <p:sp>
        <p:nvSpPr>
          <p:cNvPr id="1002" name="Doban Content 1002"/>
          <p:cNvSpPr txBox="1"/>
          <p:nvPr/>
        </p:nvSpPr>
        <p:spPr>
          <a:xfrm>
            <a:off x="700000" y="1300000"/>
            <a:ext cx="5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800" b="1">
                <a:solidFill>
                  <a:srgbClr val="222222"/>
                </a:solidFill>
                <a:latin typeface="Noto Sans CJK KR"/>
                <a:ea typeface="Noto Sans CJK KR"/>
              </a:rPr>
              <a:t>관광 데이터 기반 지역 창업 분석 챗봇</a:t>
            </a:r>
            <a:endParaRPr lang="ko-KR" sz="2800"/>
          </a:p>
          <a:p>
            <a:r>
              <a:rPr lang="ko-KR" sz="2800">
                <a:solidFill>
                  <a:srgbClr val="222222"/>
                </a:solidFill>
                <a:latin typeface="Noto Sans CJK KR"/>
                <a:ea typeface="Noto Sans CJK KR"/>
              </a:rPr>
              <a:t>관광 데이터를 창업 판단으로 바꿔주는 미니 컨설팅 챗봇</a:t>
            </a:r>
            <a:endParaRPr lang="ko-KR" sz="2800"/>
          </a:p>
        </p:txBody>
      </p:sp>
      <p:sp>
        <p:nvSpPr>
          <p:cNvPr id="1003" name="Doban Content 1003"/>
          <p:cNvSpPr txBox="1"/>
          <p:nvPr/>
        </p:nvSpPr>
        <p:spPr>
          <a:xfrm>
            <a:off x="700000" y="36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2026. 06. 09.</a:t>
            </a:r>
            <a:endParaRPr lang="ko-KR" sz="1500"/>
          </a:p>
        </p:txBody>
      </p:sp>
      <p:sp>
        <p:nvSpPr>
          <p:cNvPr id="1004" name="Doban Content 1004"/>
          <p:cNvSpPr txBox="1"/>
          <p:nvPr/>
        </p:nvSpPr>
        <p:spPr>
          <a:xfrm>
            <a:off x="5600000" y="180000"/>
            <a:ext cx="3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000">
                <a:solidFill>
                  <a:srgbClr val="222222"/>
                </a:solidFill>
                <a:latin typeface="Noto Sans CJK KR"/>
                <a:ea typeface="Noto Sans CJK KR"/>
              </a:rPr>
              <a:t>2026 관광데이터 활용 공모전 - 생성형 AI 활용 관광 프롬프톤</a:t>
            </a:r>
            <a:endParaRPr lang="ko-K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>
            <a:off x="335425" y="1440175"/>
            <a:ext cx="3924600" cy="3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99000" y="1478230"/>
            <a:ext cx="45915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5004150" y="22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651625"/>
                <a:gridCol w="815150"/>
                <a:gridCol w="1448700"/>
                <a:gridCol w="971825"/>
              </a:tblGrid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팀 소개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380000" y="90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400" b="1">
                <a:solidFill>
                  <a:srgbClr val="222222"/>
                </a:solidFill>
                <a:latin typeface="Noto Sans CJK KR"/>
                <a:ea typeface="Noto Sans CJK KR"/>
              </a:rPr>
              <a:t>도반(Doban)</a:t>
            </a:r>
            <a:endParaRPr lang="ko-KR" sz="2400"/>
          </a:p>
        </p:txBody>
      </p:sp>
      <p:sp>
        <p:nvSpPr>
          <p:cNvPr id="1003" name="Doban Content 1003"/>
          <p:cNvSpPr txBox="1"/>
          <p:nvPr/>
        </p:nvSpPr>
        <p:spPr>
          <a:xfrm>
            <a:off x="380000" y="1400000"/>
            <a:ext cx="3900000" cy="2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참여 계기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관광 데이터를 단순 여행 추천이 아니라 지역 창업과 소상공인 의사결정에 연결해보고자 참여했습니다.</a:t>
            </a:r>
            <a:endParaRPr lang="ko-KR" sz="1600"/>
          </a:p>
          <a:p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팀 운영 방식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서비스 기획, OpenAPI 활용 구조, 프롬프트 설계, 엔노이아 구현을 공동으로 진행했습니다.</a:t>
            </a:r>
            <a:endParaRPr lang="ko-KR" sz="1600"/>
          </a:p>
        </p:txBody>
      </p:sp>
      <p:sp>
        <p:nvSpPr>
          <p:cNvPr id="1004" name="Doban Content 1004"/>
          <p:cNvSpPr txBox="1"/>
          <p:nvPr/>
        </p:nvSpPr>
        <p:spPr>
          <a:xfrm>
            <a:off x="4800000" y="1450000"/>
            <a:ext cx="3900000" cy="2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팀원 소개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전민정  | 서비스 기획 및 개발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OpenAPI 활용 구조 정리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서비스 기획 및 엔노이아 구현 참여</a:t>
            </a:r>
            <a:endParaRPr lang="ko-KR" sz="1500"/>
          </a:p>
          <a:p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안중현  | 서비스 기획 및 개발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프롬프트 설계 및 데이터 흐름 정리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서비스 기획 및 엔노이아 구현 참여</a:t>
            </a:r>
            <a:endParaRPr lang="ko-KR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6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36425" y="1327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995500"/>
                <a:gridCol w="7576000"/>
              </a:tblGrid>
              <a:tr h="205450">
                <a:tc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</a:tbl>
          </a:graphicData>
        </a:graphic>
      </p:graphicFrame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소개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20000" y="850000"/>
            <a:ext cx="8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500" b="1">
                <a:solidFill>
                  <a:srgbClr val="222222"/>
                </a:solidFill>
                <a:latin typeface="Noto Sans CJK KR"/>
                <a:ea typeface="Noto Sans CJK KR"/>
              </a:rPr>
              <a:t>도반(Doban): 관광 데이터 기반 지역 창업 분석 챗봇</a:t>
            </a:r>
            <a:endParaRPr lang="ko-KR" sz="2500"/>
          </a:p>
        </p:txBody>
      </p:sp>
      <p:sp>
        <p:nvSpPr>
          <p:cNvPr id="1003" name="Doban Content 1003"/>
          <p:cNvSpPr txBox="1"/>
          <p:nvPr/>
        </p:nvSpPr>
        <p:spPr>
          <a:xfrm>
            <a:off x="420000" y="1550000"/>
            <a:ext cx="82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서비스 요약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사용자가 지역명이나 관광지명, 관심 업종을 입력하면 한국관광공사 OpenAPI를 호출해 지역 관광 흐름과 창업 기회를 미니 컨설팅 리포트로 제공하는 엔노이아 Studio 챗봇입니다.</a:t>
            </a:r>
            <a:endParaRPr lang="ko-KR" sz="1700"/>
          </a:p>
        </p:txBody>
      </p:sp>
      <p:sp>
        <p:nvSpPr>
          <p:cNvPr id="1004" name="Doban Content 1004"/>
          <p:cNvSpPr txBox="1"/>
          <p:nvPr/>
        </p:nvSpPr>
        <p:spPr>
          <a:xfrm>
            <a:off x="420000" y="2550000"/>
            <a:ext cx="3900000" cy="1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주제 선정 이유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관광지 주변 창업을 고민하는 예비창업자와 소상공인은 방문자 규모, 소비 가능성, 관광 동선, 자원 수요를 한 번에 파악하기 어렵습니다. 도반은 관광 데이터를 창업자 관점으로 재해석합니다.</a:t>
            </a:r>
            <a:endParaRPr lang="ko-KR" sz="1500"/>
          </a:p>
        </p:txBody>
      </p:sp>
      <p:sp>
        <p:nvSpPr>
          <p:cNvPr id="1005" name="Doban Content 1005"/>
          <p:cNvSpPr txBox="1"/>
          <p:nvPr/>
        </p:nvSpPr>
        <p:spPr>
          <a:xfrm>
            <a:off x="4800000" y="2550000"/>
            <a:ext cx="3900000" cy="1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타겟 사용자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국내 예비창업자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관광 상권 기존 소상공인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로컬 창업자 및 로컬 크리에이터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지자체 또는 관광 유관기관 담당자</a:t>
            </a:r>
            <a:endParaRPr lang="ko-KR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7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61300" y="1953254"/>
            <a:ext cx="86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소개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20000" y="900000"/>
            <a:ext cx="8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600" b="1">
                <a:solidFill>
                  <a:srgbClr val="222222"/>
                </a:solidFill>
                <a:latin typeface="Noto Sans CJK KR"/>
                <a:ea typeface="Noto Sans CJK KR"/>
              </a:rPr>
              <a:t>우리는 관광 상권 창업 판단의 어려움을 한국관광공사 OpenAPI 기반 미니 컨설팅 리포트로 해결합니다.</a:t>
            </a:r>
            <a:endParaRPr lang="ko-KR" sz="2600"/>
          </a:p>
        </p:txBody>
      </p:sp>
      <p:sp>
        <p:nvSpPr>
          <p:cNvPr id="1003" name="Doban Content 1003"/>
          <p:cNvSpPr txBox="1"/>
          <p:nvPr/>
        </p:nvSpPr>
        <p:spPr>
          <a:xfrm>
            <a:off x="700000" y="2150000"/>
            <a:ext cx="7800000" cy="1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100">
                <a:solidFill>
                  <a:srgbClr val="222222"/>
                </a:solidFill>
                <a:latin typeface="Noto Sans CJK KR"/>
                <a:ea typeface="Noto Sans CJK KR"/>
              </a:rPr>
              <a:t>핵심 기능 3가지</a:t>
            </a:r>
            <a:endParaRPr lang="ko-KR" sz="2100"/>
          </a:p>
          <a:p>
            <a:r>
              <a:rPr lang="ko-KR" sz="2100">
                <a:solidFill>
                  <a:srgbClr val="222222"/>
                </a:solidFill>
                <a:latin typeface="Noto Sans CJK KR"/>
                <a:ea typeface="Noto Sans CJK KR"/>
              </a:rPr>
              <a:t>1. 지역명/관광지명 기반 분석 지역 확인</a:t>
            </a:r>
            <a:endParaRPr lang="ko-KR" sz="2100"/>
          </a:p>
          <a:p>
            <a:r>
              <a:rPr lang="ko-KR" sz="2100">
                <a:solidFill>
                  <a:srgbClr val="222222"/>
                </a:solidFill>
                <a:latin typeface="Noto Sans CJK KR"/>
                <a:ea typeface="Noto Sans CJK KR"/>
              </a:rPr>
              <a:t>2. 방문자, 체류, 소비, 관광 자원, 동선 데이터 조합 분석</a:t>
            </a:r>
            <a:endParaRPr lang="ko-KR" sz="2100"/>
          </a:p>
          <a:p>
            <a:r>
              <a:rPr lang="ko-KR" sz="2100">
                <a:solidFill>
                  <a:srgbClr val="222222"/>
                </a:solidFill>
                <a:latin typeface="Noto Sans CJK KR"/>
                <a:ea typeface="Noto Sans CJK KR"/>
              </a:rPr>
              <a:t>3. 창업 아이템, 리스크, 추가 확인사항 제안</a:t>
            </a:r>
            <a:endParaRPr lang="ko-KR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8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03" name="Google Shape;103;p18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05" name="Google Shape;105;p18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8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8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입력·출력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50000" y="105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222222"/>
                </a:solidFill>
                <a:latin typeface="Noto Sans CJK KR"/>
                <a:ea typeface="Noto Sans CJK KR"/>
              </a:rPr>
              <a:t>입력값</a:t>
            </a:r>
            <a:endParaRPr lang="ko-KR" sz="2200"/>
          </a:p>
        </p:txBody>
      </p:sp>
      <p:sp>
        <p:nvSpPr>
          <p:cNvPr id="1003" name="Doban Content 1003"/>
          <p:cNvSpPr txBox="1"/>
          <p:nvPr/>
        </p:nvSpPr>
        <p:spPr>
          <a:xfrm>
            <a:off x="450000" y="1600000"/>
            <a:ext cx="3600000" cy="2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예시 질문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강릉에서 관광객 대상으로 창업하기 좋은 아이템 추천해줘.</a:t>
            </a:r>
            <a:endParaRPr lang="ko-KR" sz="1800"/>
          </a:p>
          <a:p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사용자는 복잡한 조건을 입력하지 않아도 지역과 창업 의도를 자연어로 입력할 수 있습니다.</a:t>
            </a:r>
            <a:endParaRPr lang="ko-KR" sz="1800"/>
          </a:p>
        </p:txBody>
      </p:sp>
      <p:sp>
        <p:nvSpPr>
          <p:cNvPr id="1004" name="Doban Content 1004"/>
          <p:cNvSpPr txBox="1"/>
          <p:nvPr/>
        </p:nvSpPr>
        <p:spPr>
          <a:xfrm>
            <a:off x="5050000" y="105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222222"/>
                </a:solidFill>
                <a:latin typeface="Noto Sans CJK KR"/>
                <a:ea typeface="Noto Sans CJK KR"/>
              </a:rPr>
              <a:t>출력값</a:t>
            </a:r>
            <a:endParaRPr lang="ko-KR" sz="2200"/>
          </a:p>
        </p:txBody>
      </p:sp>
      <p:sp>
        <p:nvSpPr>
          <p:cNvPr id="1005" name="Doban Content 1005"/>
          <p:cNvSpPr txBox="1"/>
          <p:nvPr/>
        </p:nvSpPr>
        <p:spPr>
          <a:xfrm>
            <a:off x="5050000" y="1600000"/>
            <a:ext cx="3600000" cy="2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미니 컨설팅 리포트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한 줄 결론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분석 지역과 기준 기간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방문자 및 관광 흐름 요약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체류/소비 수요 해석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추천 창업 아이템</a:t>
            </a:r>
            <a:endParaRPr lang="ko-KR" sz="1700"/>
          </a:p>
          <a:p>
            <a:r>
              <a:rPr lang="ko-KR" sz="1700">
                <a:solidFill>
                  <a:srgbClr val="222222"/>
                </a:solidFill>
                <a:latin typeface="Noto Sans CJK KR"/>
                <a:ea typeface="Noto Sans CJK KR"/>
              </a:rPr>
              <a:t>- 리스크와 추가 확인사항</a:t>
            </a:r>
            <a:endParaRPr lang="ko-KR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9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9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37" name="Google Shape;137;p19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9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9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9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9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" name="Google Shape;159;p19"/>
          <p:cNvSpPr/>
          <p:nvPr/>
        </p:nvSpPr>
        <p:spPr>
          <a:xfrm>
            <a:off x="21400" y="2076225"/>
            <a:ext cx="9144000" cy="116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입력·출력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50000" y="105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222222"/>
                </a:solidFill>
                <a:latin typeface="Noto Sans CJK KR"/>
                <a:ea typeface="Noto Sans CJK KR"/>
              </a:rPr>
              <a:t>입력값</a:t>
            </a:r>
            <a:endParaRPr lang="ko-KR" sz="2200"/>
          </a:p>
        </p:txBody>
      </p:sp>
      <p:sp>
        <p:nvSpPr>
          <p:cNvPr id="1003" name="Doban Content 1003"/>
          <p:cNvSpPr txBox="1"/>
          <p:nvPr/>
        </p:nvSpPr>
        <p:spPr>
          <a:xfrm>
            <a:off x="450000" y="1600000"/>
            <a:ext cx="360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가변 입력 예시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지역명: 제주, 강릉, 해운대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관광지명: 전주 한옥마을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관심 업종: 디저트, 카페, 웰니스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고객 유형: 가족 관광객, 웰니스 관광객</a:t>
            </a:r>
            <a:endParaRPr lang="ko-KR" sz="1500"/>
          </a:p>
          <a:p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예시: 제주에서 웰니스 관광객 대상으로 할 만한 창업 아이템 추천해줘.</a:t>
            </a:r>
            <a:endParaRPr lang="ko-KR" sz="1500"/>
          </a:p>
        </p:txBody>
      </p:sp>
      <p:sp>
        <p:nvSpPr>
          <p:cNvPr id="1004" name="Doban Content 1004"/>
          <p:cNvSpPr txBox="1"/>
          <p:nvPr/>
        </p:nvSpPr>
        <p:spPr>
          <a:xfrm>
            <a:off x="5050000" y="105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222222"/>
                </a:solidFill>
                <a:latin typeface="Noto Sans CJK KR"/>
                <a:ea typeface="Noto Sans CJK KR"/>
              </a:rPr>
              <a:t>출력값</a:t>
            </a:r>
            <a:endParaRPr lang="ko-KR" sz="2200"/>
          </a:p>
        </p:txBody>
      </p:sp>
      <p:sp>
        <p:nvSpPr>
          <p:cNvPr id="1005" name="Doban Content 1005"/>
          <p:cNvSpPr txBox="1"/>
          <p:nvPr/>
        </p:nvSpPr>
        <p:spPr>
          <a:xfrm>
            <a:off x="5050000" y="1600000"/>
            <a:ext cx="360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처리 결과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- 관광지명은 국문 관광정보 서비스로 주소와 좌표 확인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- 지역 코드로 변환 후 OpenAPI 호출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- 방문자, 수요, 자원, 동선, 웰니스 데이터 조합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- 창업 아이템과 주의사항 함께 제시</a:t>
            </a:r>
            <a:endParaRPr lang="ko-KR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0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시연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500000" y="900000"/>
            <a:ext cx="8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400" b="1">
                <a:solidFill>
                  <a:srgbClr val="222222"/>
                </a:solidFill>
                <a:latin typeface="Noto Sans CJK KR"/>
                <a:ea typeface="Noto Sans CJK KR"/>
              </a:rPr>
              <a:t>엔노이아 Studio 앱 화면</a:t>
            </a:r>
            <a:endParaRPr lang="ko-KR" sz="2400"/>
          </a:p>
        </p:txBody>
      </p:sp>
      <p:sp>
        <p:nvSpPr>
          <p:cNvPr id="1003" name="Doban Content 1003"/>
          <p:cNvSpPr txBox="1"/>
          <p:nvPr/>
        </p:nvSpPr>
        <p:spPr>
          <a:xfrm>
            <a:off x="650000" y="1500000"/>
            <a:ext cx="7600000" cy="2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[최종 제출 전 실제 캡처 삽입 필요]</a:t>
            </a:r>
            <a:endParaRPr lang="ko-KR" sz="1800"/>
          </a:p>
          <a:p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추천 시연 질문: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전주 한옥마을 근처에서 디저트 가게를 하면 괜찮을까?</a:t>
            </a:r>
            <a:endParaRPr lang="ko-KR" sz="1800"/>
          </a:p>
          <a:p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확인 항목: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- 엔노이아 Studio 앱 공유 URL 생성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- 로그인 없이 접속 가능 여부 확인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- 질문 입력 화면과 답변 출력 화면 캡처</a:t>
            </a:r>
            <a:endParaRPr lang="ko-KR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1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시연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500000" y="850000"/>
            <a:ext cx="8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400" b="1">
                <a:solidFill>
                  <a:srgbClr val="222222"/>
                </a:solidFill>
                <a:latin typeface="Noto Sans CJK KR"/>
                <a:ea typeface="Noto Sans CJK KR"/>
              </a:rPr>
              <a:t>서비스 Flow Chart</a:t>
            </a:r>
            <a:endParaRPr lang="ko-KR" sz="2400"/>
          </a:p>
        </p:txBody>
      </p:sp>
      <p:sp>
        <p:nvSpPr>
          <p:cNvPr id="1003" name="Doban Content 1003"/>
          <p:cNvSpPr txBox="1"/>
          <p:nvPr/>
        </p:nvSpPr>
        <p:spPr>
          <a:xfrm>
            <a:off x="650000" y="1450000"/>
            <a:ext cx="7600000" cy="2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사용자 질문 입력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지역명/관광지명/업종/의도 추출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관광지명인 경우 국문 관광정보 서비스로 주소/좌표 확인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지역 코드 lookup으로 areaCd, signguCd 매핑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필요한 한국관광공사 OpenAPI 선택 및 호출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방문자/수요/자원/동선/웰니스 데이터 해석</a:t>
            </a:r>
            <a:endParaRPr lang="ko-KR" sz="2000"/>
          </a:p>
          <a:p>
            <a:r>
              <a:rPr lang="ko-KR" sz="2000">
                <a:solidFill>
                  <a:srgbClr val="222222"/>
                </a:solidFill>
                <a:latin typeface="Noto Sans CJK KR"/>
                <a:ea typeface="Noto Sans CJK KR"/>
              </a:rPr>
              <a:t>→ 미니 컨설팅 리포트 생성</a:t>
            </a:r>
            <a:endParaRPr lang="ko-KR" sz="2000"/>
          </a:p>
        </p:txBody>
      </p:sp>
      <p:sp>
        <p:nvSpPr>
          <p:cNvPr id="1004" name="Doban Content 1004"/>
          <p:cNvSpPr txBox="1"/>
          <p:nvPr/>
        </p:nvSpPr>
        <p:spPr>
          <a:xfrm>
            <a:off x="650000" y="4250000"/>
            <a:ext cx="76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222222"/>
                </a:solidFill>
                <a:latin typeface="Noto Sans CJK KR"/>
                <a:ea typeface="Noto Sans CJK KR"/>
              </a:rPr>
              <a:t>한 API 결과만으로 결론을 내리지 않고 여러 데이터 신호를 조합합니다.</a:t>
            </a:r>
            <a:endParaRPr lang="ko-KR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2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2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서비스 시연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500000" y="1000000"/>
            <a:ext cx="82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500" b="1">
                <a:solidFill>
                  <a:srgbClr val="222222"/>
                </a:solidFill>
                <a:latin typeface="Noto Sans CJK KR"/>
                <a:ea typeface="Noto Sans CJK KR"/>
              </a:rPr>
              <a:t>서비스 시연 영상(optional)</a:t>
            </a:r>
            <a:endParaRPr lang="ko-KR" sz="2500"/>
          </a:p>
        </p:txBody>
      </p:sp>
      <p:sp>
        <p:nvSpPr>
          <p:cNvPr id="1003" name="Doban Content 1003"/>
          <p:cNvSpPr txBox="1"/>
          <p:nvPr/>
        </p:nvSpPr>
        <p:spPr>
          <a:xfrm>
            <a:off x="650000" y="1700000"/>
            <a:ext cx="7600000" cy="2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시연 영상은 선택 제출 항목입니다.</a:t>
            </a:r>
            <a:endParaRPr lang="ko-KR" sz="1800"/>
          </a:p>
          <a:p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영상 제작 시 포함할 내용: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1. 사용자가 지역/업종 질문 입력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2. 도반이 지역을 확인하고 OpenAPI 기반 분석 수행</a:t>
            </a:r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3. 미니 컨설팅 리포트 출력</a:t>
            </a:r>
            <a:endParaRPr lang="ko-KR" sz="1800"/>
          </a:p>
          <a:p>
            <a:endParaRPr lang="ko-KR" sz="1800"/>
          </a:p>
          <a:p>
            <a:r>
              <a:rPr lang="ko-KR" sz="1800">
                <a:solidFill>
                  <a:srgbClr val="222222"/>
                </a:solidFill>
                <a:latin typeface="Noto Sans CJK KR"/>
                <a:ea typeface="Noto Sans CJK KR"/>
              </a:rPr>
              <a:t>영상이 없을 경우 엔노이아 앱 공유 URL과 실제 화면 캡처로 시연을 대체합니다.</a:t>
            </a:r>
            <a:endParaRPr lang="ko-KR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3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3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1" name="Google Shape;191;p23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3"/>
          <p:cNvSpPr txBox="1"/>
          <p:nvPr/>
        </p:nvSpPr>
        <p:spPr>
          <a:xfrm>
            <a:off x="4698925" y="2162997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21957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236408" y="27699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33441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236408" y="391832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006700" y="248282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006696" y="30570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006696" y="363123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006696" y="42054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30505" y="223616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0505" y="281036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26461" y="338051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426461" y="395471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960228" y="228468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960228" y="285888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60228" y="343308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960228" y="400728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15825" y="1153150"/>
            <a:ext cx="41292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" sz="721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800" b="1">
                <a:solidFill>
                  <a:srgbClr val="222222"/>
                </a:solidFill>
                <a:latin typeface="Noto Sans CJK KR"/>
                <a:ea typeface="Noto Sans CJK KR"/>
              </a:rPr>
              <a:t>한국관광공사 OpenAPI 활용 경험</a:t>
            </a:r>
            <a:endParaRPr lang="ko-KR" sz="1800"/>
          </a:p>
        </p:txBody>
      </p:sp>
      <p:sp>
        <p:nvSpPr>
          <p:cNvPr id="1002" name="Doban Content 1002"/>
          <p:cNvSpPr txBox="1"/>
          <p:nvPr/>
        </p:nvSpPr>
        <p:spPr>
          <a:xfrm>
            <a:off x="420000" y="850000"/>
            <a:ext cx="3900000" cy="3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활용 OpenAPI List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1. 국문 관광정보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2. 관광 빅데이터 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3. 지역별 관광 수요 강도 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4. 지역별 관광 자원 수요 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5. 기초지자체 중심관광지 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6. 관광지별 연관관광지 정보 서비스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7. 웰니스 관광정보 서비스</a:t>
            </a:r>
            <a:endParaRPr lang="ko-KR" sz="1500"/>
          </a:p>
        </p:txBody>
      </p:sp>
      <p:sp>
        <p:nvSpPr>
          <p:cNvPr id="1003" name="Doban Content 1003"/>
          <p:cNvSpPr txBox="1"/>
          <p:nvPr/>
        </p:nvSpPr>
        <p:spPr>
          <a:xfrm>
            <a:off x="4800000" y="850000"/>
            <a:ext cx="3900000" cy="3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도반에서의 활용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관광지명 검색, 주소/좌표 확인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지역별 방문자 규모와 관광 흐름 파악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체류 강도와 소비 강도 분석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식음료, 쇼핑, 숙박, 체험, 문화/자연 수요 분석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중심 관광지와 주변 관광 동선 분석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- 웰니스/힐링 창업 아이템 후보 확인</a:t>
            </a:r>
            <a:endParaRPr lang="ko-KR" sz="1500"/>
          </a:p>
        </p:txBody>
      </p:sp>
      <p:sp>
        <p:nvSpPr>
          <p:cNvPr id="1004" name="Doban Content 1004"/>
          <p:cNvSpPr txBox="1"/>
          <p:nvPr/>
        </p:nvSpPr>
        <p:spPr>
          <a:xfrm>
            <a:off x="500000" y="4250000"/>
            <a:ext cx="8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>
                <a:solidFill>
                  <a:srgbClr val="222222"/>
                </a:solidFill>
                <a:latin typeface="Noto Sans CJK KR"/>
                <a:ea typeface="Noto Sans CJK KR"/>
              </a:rPr>
              <a:t>보조 파일 데이터: 지역명/지역코드 lookup CSV, 지표 코드 CSV를 엔노이아 문서 폴더에 첨부해 API 호출 파라미터 변환에 활용했습니다.</a:t>
            </a:r>
            <a:endParaRPr lang="ko-KR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4"/>
          <p:cNvSpPr txBox="1"/>
          <p:nvPr/>
        </p:nvSpPr>
        <p:spPr>
          <a:xfrm>
            <a:off x="236400" y="2014122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22419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4627308" y="28161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33903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4627308" y="396457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397600" y="252907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397596" y="31032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397596" y="367748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5397596" y="42516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821405" y="228241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821405" y="285661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17361" y="342676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817361" y="400096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5351128" y="233093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5351128" y="290513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351128" y="347933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351128" y="405353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시행착오 &amp; 개선시도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20000" y="850000"/>
            <a:ext cx="8300000" cy="3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1. 일반 여행 추천과 차별성이 약함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개선: 예비창업자/소상공인 대상 창업 분석으로 전환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결과: 공공데이터 활용 목적이 명확해짐</a:t>
            </a:r>
            <a:endParaRPr lang="ko-KR" sz="1400"/>
          </a:p>
          <a:p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2. 지역명과 관광지명 입력이 섞임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개선: 국문 관광정보 검색 + 지역 코드 lookup 구조 설계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결과: API 호출에 필요한 지역 코드 매핑 가능</a:t>
            </a:r>
            <a:endParaRPr lang="ko-KR" sz="1400"/>
          </a:p>
          <a:p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3. API별 코드 체계와 지표가 복잡함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개선: 코드값 CSV를 엔노이아 문서 폴더용으로 정제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결과: 챗봇이 코드값을 참조할 수 있는 기반 마련</a:t>
            </a:r>
            <a:endParaRPr lang="ko-KR" sz="1400"/>
          </a:p>
          <a:p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4. 추천이 과장될 위험이 있음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개선: 시스템 프롬프트에 금지사항과 데이터 한계 명시</a:t>
            </a:r>
            <a:endParaRPr lang="ko-KR" sz="1400"/>
          </a:p>
          <a:p>
            <a:r>
              <a:rPr lang="ko-KR" sz="1400">
                <a:solidFill>
                  <a:srgbClr val="222222"/>
                </a:solidFill>
                <a:latin typeface="Noto Sans CJK KR"/>
                <a:ea typeface="Noto Sans CJK KR"/>
              </a:rPr>
              <a:t>결과: 리스크와 추가 확인사항을 포함하는 답변 구조 확립</a:t>
            </a:r>
            <a:endParaRPr lang="ko-KR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4" name="Google Shape;244;p2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5"/>
          <p:cNvSpPr txBox="1"/>
          <p:nvPr/>
        </p:nvSpPr>
        <p:spPr>
          <a:xfrm>
            <a:off x="236413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236425" y="2173850"/>
            <a:ext cx="42693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4791178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791191" y="2173850"/>
            <a:ext cx="42693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Doban Content 1001"/>
          <p:cNvSpPr txBox="1"/>
          <p:nvPr/>
        </p:nvSpPr>
        <p:spPr>
          <a:xfrm>
            <a:off x="270000" y="255000"/>
            <a:ext cx="6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222222"/>
                </a:solidFill>
                <a:latin typeface="Noto Sans CJK KR"/>
                <a:ea typeface="Noto Sans CJK KR"/>
              </a:rPr>
              <a:t>우리 팀 서비스를 마무리하며</a:t>
            </a:r>
            <a:endParaRPr lang="ko-KR" sz="2000"/>
          </a:p>
        </p:txBody>
      </p:sp>
      <p:sp>
        <p:nvSpPr>
          <p:cNvPr id="1002" name="Doban Content 1002"/>
          <p:cNvSpPr txBox="1"/>
          <p:nvPr/>
        </p:nvSpPr>
        <p:spPr>
          <a:xfrm>
            <a:off x="420000" y="900000"/>
            <a:ext cx="4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기대효과 &amp; 발전계획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제품 관점: 예비창업자가 지역 후보와 창업 아이템을 빠르게 검토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사업 관점: 소상공인, 로컬 창업자, 지자체 창업 지원 프로그램에 활용 가능</a:t>
            </a:r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기술 관점: 한국관광공사 OpenAPI와 생성형 AI를 결합해 관광 데이터를 의사결정 보조 리포트로 변환</a:t>
            </a:r>
            <a:endParaRPr lang="ko-KR" sz="1500"/>
          </a:p>
          <a:p>
            <a:endParaRPr lang="ko-KR" sz="1500"/>
          </a:p>
          <a:p>
            <a:r>
              <a:rPr lang="ko-KR" sz="1500">
                <a:solidFill>
                  <a:srgbClr val="222222"/>
                </a:solidFill>
                <a:latin typeface="Noto Sans CJK KR"/>
                <a:ea typeface="Noto Sans CJK KR"/>
              </a:rPr>
              <a:t>발전계획: 지역 간 비교, 업종별 리포트, 지도 기반 관광 동선 시각화, 창업 체크리스트 자동 생성</a:t>
            </a:r>
            <a:endParaRPr lang="ko-KR" sz="1500"/>
          </a:p>
        </p:txBody>
      </p:sp>
      <p:sp>
        <p:nvSpPr>
          <p:cNvPr id="1003" name="Doban Content 1003"/>
          <p:cNvSpPr txBox="1"/>
          <p:nvPr/>
        </p:nvSpPr>
        <p:spPr>
          <a:xfrm>
            <a:off x="4900000" y="900000"/>
            <a:ext cx="380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우리 팀 소감</a:t>
            </a:r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전민정: 관광 데이터를 창업자의 관점으로 바꾸는 과정에서 공공데이터 활용 가능성을 확인했습니다.</a:t>
            </a:r>
            <a:endParaRPr lang="ko-KR" sz="1600"/>
          </a:p>
          <a:p>
            <a:endParaRPr lang="ko-KR" sz="1600"/>
          </a:p>
          <a:p>
            <a:r>
              <a:rPr lang="ko-KR" sz="1600">
                <a:solidFill>
                  <a:srgbClr val="222222"/>
                </a:solidFill>
                <a:latin typeface="Noto Sans CJK KR"/>
                <a:ea typeface="Noto Sans CJK KR"/>
              </a:rPr>
              <a:t>안중현: 생성형 AI가 단순 답변을 넘어 데이터 기반 의사결정 보조 도구로 확장될 수 있음을 경험했습니다.</a:t>
            </a:r>
            <a:endParaRPr lang="ko-K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
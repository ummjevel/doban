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Noto Sans KR"/>
      <p:regular r:id="rId20"/>
      <p:bold r:id="rId21"/>
    </p:embeddedFont>
    <p:embeddedFont>
      <p:font typeface="Gothic A1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ns3:sldGuideLst>
        <ns3:guide id="1" orient="horz" pos="1620">
          <ns3:clr>
            <a:srgbClr val="747775"/>
          </ns3:clr>
        </ns3:guide>
        <ns3:guide id="2" pos="2880">
          <ns3:clr>
            <a:srgbClr val="747775"/>
          </ns3:clr>
        </ns3:guide>
      </ns3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5826E36-F4B4-43C7-A6BA-13248B7EEA96}">
  <a:tblStyle styleId="{55826E36-F4B4-43C7-A6BA-13248B7EEA9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?>
<Relationships xmlns="http://schemas.openxmlformats.org/package/2006/relationships"><Relationship Id="rId20" Type="http://schemas.openxmlformats.org/officeDocument/2006/relationships/font" Target="fonts/NotoSansKR-regular.fntdata" /><Relationship Id="rId11" Type="http://schemas.openxmlformats.org/officeDocument/2006/relationships/slide" Target="slides/slide5.xml" /><Relationship Id="rId22" Type="http://schemas.openxmlformats.org/officeDocument/2006/relationships/font" Target="fonts/GothicA1-regular.fntdata" /><Relationship Id="rId10" Type="http://schemas.openxmlformats.org/officeDocument/2006/relationships/slide" Target="slides/slide4.xml" /><Relationship Id="rId21" Type="http://schemas.openxmlformats.org/officeDocument/2006/relationships/font" Target="fonts/NotoSansKR-bold.fntdata" /><Relationship Id="rId13" Type="http://schemas.openxmlformats.org/officeDocument/2006/relationships/slide" Target="slides/slide7.xml" /><Relationship Id="rId12" Type="http://schemas.openxmlformats.org/officeDocument/2006/relationships/slide" Target="slides/slide6.xml" /><Relationship Id="rId23" Type="http://schemas.openxmlformats.org/officeDocument/2006/relationships/font" Target="fonts/GothicA1-bold.fntdata" /><Relationship Id="rId1" Type="http://schemas.openxmlformats.org/officeDocument/2006/relationships/theme" Target="theme/theme1.xml" /><Relationship Id="rId2" Type="http://schemas.openxmlformats.org/officeDocument/2006/relationships/viewProps" Target="viewProps.xml" /><Relationship Id="rId3" Type="http://schemas.openxmlformats.org/officeDocument/2006/relationships/presProps" Target="presProps.xml" /><Relationship Id="rId4" Type="http://schemas.openxmlformats.org/officeDocument/2006/relationships/tableStyles" Target="tableStyles.xml" /><Relationship Id="rId9" Type="http://schemas.openxmlformats.org/officeDocument/2006/relationships/slide" Target="slides/slide3.xml" /><Relationship Id="rId15" Type="http://schemas.openxmlformats.org/officeDocument/2006/relationships/slide" Target="slides/slide9.xml" /><Relationship Id="rId14" Type="http://schemas.openxmlformats.org/officeDocument/2006/relationships/slide" Target="slides/slide8.xml" /><Relationship Id="rId17" Type="http://schemas.openxmlformats.org/officeDocument/2006/relationships/slide" Target="slides/slide11.xml" /><Relationship Id="rId16" Type="http://schemas.openxmlformats.org/officeDocument/2006/relationships/slide" Target="slides/slide10.xml" /><Relationship Id="rId5" Type="http://schemas.openxmlformats.org/officeDocument/2006/relationships/slideMaster" Target="slideMasters/slideMaster1.xml" /><Relationship Id="rId19" Type="http://schemas.openxmlformats.org/officeDocument/2006/relationships/slide" Target="slides/slide13.xml" /><Relationship Id="rId6" Type="http://schemas.openxmlformats.org/officeDocument/2006/relationships/notesMaster" Target="notesMasters/notesMaster1.xml" /><Relationship Id="rId18" Type="http://schemas.openxmlformats.org/officeDocument/2006/relationships/slide" Target="slides/slide12.xml" /><Relationship Id="rId8" Type="http://schemas.openxmlformats.org/officeDocument/2006/relationships/slide" Target="slides/slide2.xml" 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b579faa35_3_534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b579faa35_3_5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eb579faa35_3_0:notes"/>
          <p:cNvSpPr/>
          <p:nvPr>
            <p:ph idx="2" type="sldImg"/>
          </p:nvPr>
        </p:nvSpPr>
        <p:spPr>
          <a:xfrm>
            <a:off x="381309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eb579faa35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b579faa35_3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b579faa35_3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eb579faa35_3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eb579faa35_3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eb579faa35_3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eb579faa35_3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eb579faa35_3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eb579faa35_3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eb579faa35_3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eb579faa35_3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b579faa35_3_3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eb579faa35_3_3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eb579faa35_3_4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eb579faa35_3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eb579faa35_3_4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eb579faa35_3_4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eb579faa35_3_5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eb579faa35_3_5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eb579faa35_3_4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eb579faa35_3_4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eb579faa35_3_4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eb579faa35_3_4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6F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28993" y="1352075"/>
            <a:ext cx="8814900" cy="21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양식 가이드</a:t>
            </a:r>
            <a:endParaRPr b="1" sz="35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1. 반드시 </a:t>
            </a:r>
            <a:r>
              <a:rPr b="1" lang="ko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사본</a:t>
            </a:r>
            <a:r>
              <a:rPr lang="ko" sz="1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으로 저장해서 사용해주세요. </a:t>
            </a:r>
            <a:r>
              <a:rPr lang="ko" sz="1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(파일 → 사본 만들기 → 프레젠테이션 전체) *본 가이드 페이지는 삭제 후 사용)</a:t>
            </a:r>
            <a:endParaRPr sz="10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2. 작성이 완료되면 PDF 또는 PPT, PPTX로 저장하여 제출해주세요. </a:t>
            </a:r>
            <a:endParaRPr sz="1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19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3. 정해진 양식 이 외에 페이지 추가해서 사용하셔도 됩니다. (10장 내외 권장)</a:t>
            </a:r>
            <a:endParaRPr sz="1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ko" sz="1900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>4. 발표 시간 10분 이내로 자유롭게 구성해주세요.</a:t>
            </a:r>
            <a:endParaRPr sz="1900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>
  <p:cSld>
    <p:bg>
      <p:bgPr>
        <a:solidFill>
          <a:srgbClr val="0066FF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58912" y="996742"/>
            <a:ext cx="47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329008" y="1352086"/>
            <a:ext cx="4665000" cy="13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3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35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30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35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7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61" name="Google Shape;61;p14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F3F3F3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2" name="Google Shape;62;p14"/>
          <p:cNvSpPr txBox="1"/>
          <p:nvPr/>
        </p:nvSpPr>
        <p:spPr>
          <a:xfrm>
            <a:off x="381275" y="3870394"/>
            <a:ext cx="4732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63" name="Google Shape;63;p14"/>
          <p:cNvSpPr txBox="1"/>
          <p:nvPr/>
        </p:nvSpPr>
        <p:spPr>
          <a:xfrm>
            <a:off x="5708201" y="184950"/>
            <a:ext cx="3183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 sz="9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900">
              <a:solidFill>
                <a:srgbClr val="FFFF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cover block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 w="9000">
            <a:solidFill>
              <a:srgbClr val="F8FAFC"/>
            </a:solidFill>
          </a:ln>
        </p:spPr>
      </p:sp>
      <p:sp>
        <p:nvSpPr>
          <p:cNvPr id="1002" name="cover accent"/>
          <p:cNvSpPr/>
          <p:nvPr/>
        </p:nvSpPr>
        <p:spPr>
          <a:xfrm>
            <a:off x="0" y="0"/>
            <a:ext cx="9144000" cy="36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3" name="event"/>
          <p:cNvSpPr txBox="1"/>
          <p:nvPr/>
        </p:nvSpPr>
        <p:spPr>
          <a:xfrm>
            <a:off x="5400000" y="120000"/>
            <a:ext cx="3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1000">
                <a:solidFill>
                  <a:srgbClr val="FFFFFF"/>
                </a:solidFill>
                <a:latin typeface="Noto Sans CJK KR"/>
                <a:ea typeface="Noto Sans CJK KR"/>
              </a:rPr>
              <a:t>2026 관광데이터 활용 공모전 - 생성형 AI 활용 관광 프롬프톤</a:t>
            </a:r>
            <a:endParaRPr lang="ko-KR" sz="1000"/>
          </a:p>
        </p:txBody>
      </p:sp>
      <p:sp>
        <p:nvSpPr>
          <p:cNvPr id="1004" name="team"/>
          <p:cNvSpPr txBox="1"/>
          <p:nvPr/>
        </p:nvSpPr>
        <p:spPr>
          <a:xfrm>
            <a:off x="650000" y="850000"/>
            <a:ext cx="4200000" cy="3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300" b="1">
                <a:solidFill>
                  <a:srgbClr val="0F766E"/>
                </a:solidFill>
                <a:latin typeface="Noto Sans CJK KR"/>
                <a:ea typeface="Noto Sans CJK KR"/>
              </a:rPr>
              <a:t>도반(Doban)</a:t>
            </a:r>
            <a:endParaRPr lang="ko-KR" sz="2300"/>
          </a:p>
        </p:txBody>
      </p:sp>
      <p:sp>
        <p:nvSpPr>
          <p:cNvPr id="1005" name="title"/>
          <p:cNvSpPr txBox="1"/>
          <p:nvPr/>
        </p:nvSpPr>
        <p:spPr>
          <a:xfrm>
            <a:off x="650000" y="1350000"/>
            <a:ext cx="69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3400" b="1">
                <a:solidFill>
                  <a:srgbClr val="14213D"/>
                </a:solidFill>
                <a:latin typeface="Noto Sans CJK KR"/>
                <a:ea typeface="Noto Sans CJK KR"/>
              </a:rPr>
              <a:t>관광 데이터 기반</a:t>
            </a:r>
            <a:endParaRPr lang="ko-KR" sz="3400"/>
          </a:p>
          <a:p>
            <a:r>
              <a:rPr lang="ko-KR" sz="3400" b="1">
                <a:solidFill>
                  <a:srgbClr val="14213D"/>
                </a:solidFill>
                <a:latin typeface="Noto Sans CJK KR"/>
                <a:ea typeface="Noto Sans CJK KR"/>
              </a:rPr>
              <a:t>지역 창업 분석 챗봇</a:t>
            </a:r>
            <a:endParaRPr lang="ko-KR" sz="3400"/>
          </a:p>
        </p:txBody>
      </p:sp>
      <p:sp>
        <p:nvSpPr>
          <p:cNvPr id="1006" name="subtitle"/>
          <p:cNvSpPr txBox="1"/>
          <p:nvPr/>
        </p:nvSpPr>
        <p:spPr>
          <a:xfrm>
            <a:off x="650000" y="2650000"/>
            <a:ext cx="56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700">
                <a:solidFill>
                  <a:srgbClr val="4B5563"/>
                </a:solidFill>
                <a:latin typeface="Noto Sans CJK KR"/>
                <a:ea typeface="Noto Sans CJK KR"/>
              </a:rPr>
              <a:t>관광 데이터를 창업 판단으로 바꿔주는 미니 컨설팅 챗봇</a:t>
            </a:r>
            <a:endParaRPr lang="ko-KR" sz="1700"/>
          </a:p>
        </p:txBody>
      </p:sp>
      <p:sp>
        <p:nvSpPr>
          <p:cNvPr id="1007" name="tag1"/>
          <p:cNvSpPr/>
          <p:nvPr/>
        </p:nvSpPr>
        <p:spPr>
          <a:xfrm>
            <a:off x="650000" y="3300000"/>
            <a:ext cx="1500000" cy="360000"/>
          </a:xfrm>
          <a:prstGeom prst="rect">
            <a:avLst/>
          </a:prstGeom>
          <a:solidFill>
            <a:srgbClr val="D9F3EF"/>
          </a:solidFill>
          <a:ln w="9000">
            <a:solidFill>
              <a:srgbClr val="D9F3EF"/>
            </a:solidFill>
          </a:ln>
        </p:spPr>
      </p:sp>
      <p:sp>
        <p:nvSpPr>
          <p:cNvPr id="1008" name="tag1 text"/>
          <p:cNvSpPr txBox="1"/>
          <p:nvPr/>
        </p:nvSpPr>
        <p:spPr>
          <a:xfrm>
            <a:off x="740000" y="3380000"/>
            <a:ext cx="132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 b="1">
                <a:solidFill>
                  <a:srgbClr val="0F766E"/>
                </a:solidFill>
                <a:latin typeface="Noto Sans CJK KR"/>
                <a:ea typeface="Noto Sans CJK KR"/>
              </a:rPr>
              <a:t>OpenAPI 기반</a:t>
            </a:r>
            <a:endParaRPr lang="ko-KR" sz="1200"/>
          </a:p>
        </p:txBody>
      </p:sp>
      <p:sp>
        <p:nvSpPr>
          <p:cNvPr id="1009" name="tag2"/>
          <p:cNvSpPr/>
          <p:nvPr/>
        </p:nvSpPr>
        <p:spPr>
          <a:xfrm>
            <a:off x="2300000" y="3300000"/>
            <a:ext cx="1700000" cy="360000"/>
          </a:xfrm>
          <a:prstGeom prst="rect">
            <a:avLst/>
          </a:prstGeom>
          <a:solidFill>
            <a:srgbClr val="DBEAFE"/>
          </a:solidFill>
          <a:ln w="9000">
            <a:solidFill>
              <a:srgbClr val="DBEAFE"/>
            </a:solidFill>
          </a:ln>
        </p:spPr>
      </p:sp>
      <p:sp>
        <p:nvSpPr>
          <p:cNvPr id="1010" name="tag2 text"/>
          <p:cNvSpPr txBox="1"/>
          <p:nvPr/>
        </p:nvSpPr>
        <p:spPr>
          <a:xfrm>
            <a:off x="2390000" y="3380000"/>
            <a:ext cx="15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 b="1">
                <a:solidFill>
                  <a:srgbClr val="1D4ED8"/>
                </a:solidFill>
                <a:latin typeface="Noto Sans CJK KR"/>
                <a:ea typeface="Noto Sans CJK KR"/>
              </a:rPr>
              <a:t>엔노이아 Studio</a:t>
            </a:r>
            <a:endParaRPr lang="ko-KR" sz="1200"/>
          </a:p>
        </p:txBody>
      </p:sp>
      <p:sp>
        <p:nvSpPr>
          <p:cNvPr id="1011" name="date"/>
          <p:cNvSpPr txBox="1"/>
          <p:nvPr/>
        </p:nvSpPr>
        <p:spPr>
          <a:xfrm>
            <a:off x="650000" y="4050000"/>
            <a:ext cx="24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400">
                <a:solidFill>
                  <a:srgbClr val="4B5563"/>
                </a:solidFill>
                <a:latin typeface="Noto Sans CJK KR"/>
                <a:ea typeface="Noto Sans CJK KR"/>
              </a:rPr>
              <a:t>2026. 06. 09.</a:t>
            </a:r>
            <a:endParaRPr lang="ko-KR" sz="14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5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5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70" name="Google Shape;70;p15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71" name="Google Shape;71;p15"/>
          <p:cNvCxnSpPr/>
          <p:nvPr/>
        </p:nvCxnSpPr>
        <p:spPr>
          <a:xfrm rot="10800000">
            <a:off x="4580700" y="1484698"/>
            <a:ext cx="0" cy="329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2" name="Google Shape;72;p15"/>
          <p:cNvSpPr/>
          <p:nvPr/>
        </p:nvSpPr>
        <p:spPr>
          <a:xfrm>
            <a:off x="335425" y="1440175"/>
            <a:ext cx="3924600" cy="3298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73" name="Google Shape;73;p15"/>
          <p:cNvSpPr txBox="1"/>
          <p:nvPr/>
        </p:nvSpPr>
        <p:spPr>
          <a:xfrm>
            <a:off x="4699000" y="1478230"/>
            <a:ext cx="4591500" cy="32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74" name="Google Shape;74;p15"/>
          <p:cNvGraphicFramePr/>
          <p:nvPr/>
        </p:nvGraphicFramePr>
        <p:xfrm>
          <a:off x="5004150" y="223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651625"/>
                <a:gridCol w="815150"/>
                <a:gridCol w="1448700"/>
                <a:gridCol w="971825"/>
              </a:tblGrid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9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  <a:tr h="289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001" name="accent bar"/>
          <p:cNvSpPr/>
          <p:nvPr/>
        </p:nvSpPr>
        <p:spPr>
          <a:xfrm>
            <a:off x="270000" y="225000"/>
            <a:ext cx="90000" cy="3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2" name="title"/>
          <p:cNvSpPr txBox="1"/>
          <p:nvPr/>
        </p:nvSpPr>
        <p:spPr>
          <a:xfrm>
            <a:off x="420000" y="23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14213D"/>
                </a:solidFill>
                <a:latin typeface="Noto Sans CJK KR"/>
                <a:ea typeface="Noto Sans CJK KR"/>
              </a:rPr>
              <a:t>팀 소개</a:t>
            </a:r>
            <a:endParaRPr lang="ko-KR" sz="2000"/>
          </a:p>
        </p:txBody>
      </p:sp>
      <p:sp>
        <p:nvSpPr>
          <p:cNvPr id="1003" name="kicker"/>
          <p:cNvSpPr txBox="1"/>
          <p:nvPr/>
        </p:nvSpPr>
        <p:spPr>
          <a:xfrm>
            <a:off x="7350000" y="245000"/>
            <a:ext cx="1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1000">
                <a:solidFill>
                  <a:srgbClr val="4B5563"/>
                </a:solidFill>
                <a:latin typeface="Noto Sans CJK KR"/>
                <a:ea typeface="Noto Sans CJK KR"/>
              </a:rPr>
              <a:t>도반(Doban)</a:t>
            </a:r>
            <a:endParaRPr lang="ko-KR" sz="1000"/>
          </a:p>
        </p:txBody>
      </p:sp>
      <p:sp>
        <p:nvSpPr>
          <p:cNvPr id="1004" name="card"/>
          <p:cNvSpPr/>
          <p:nvPr/>
        </p:nvSpPr>
        <p:spPr>
          <a:xfrm>
            <a:off x="520000" y="950000"/>
            <a:ext cx="3800000" cy="165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5" name="card accent"/>
          <p:cNvSpPr/>
          <p:nvPr/>
        </p:nvSpPr>
        <p:spPr>
          <a:xfrm>
            <a:off x="520000" y="950000"/>
            <a:ext cx="70000" cy="165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6" name="card title"/>
          <p:cNvSpPr txBox="1"/>
          <p:nvPr/>
        </p:nvSpPr>
        <p:spPr>
          <a:xfrm>
            <a:off x="680000" y="1080000"/>
            <a:ext cx="35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참여 계기</a:t>
            </a:r>
            <a:endParaRPr lang="ko-KR" sz="1500"/>
          </a:p>
        </p:txBody>
      </p:sp>
      <p:sp>
        <p:nvSpPr>
          <p:cNvPr id="1007" name="card body"/>
          <p:cNvSpPr txBox="1"/>
          <p:nvPr/>
        </p:nvSpPr>
        <p:spPr>
          <a:xfrm>
            <a:off x="680000" y="1460000"/>
            <a:ext cx="3550000" cy="10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관광 데이터를 단순 여행 추천이 아니라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지역 창업과 소상공인 의사결정에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연결해보고자 참여했습니다.</a:t>
            </a:r>
            <a:endParaRPr lang="ko-KR" sz="1200"/>
          </a:p>
        </p:txBody>
      </p:sp>
      <p:sp>
        <p:nvSpPr>
          <p:cNvPr id="1008" name="card"/>
          <p:cNvSpPr/>
          <p:nvPr/>
        </p:nvSpPr>
        <p:spPr>
          <a:xfrm>
            <a:off x="520000" y="2850000"/>
            <a:ext cx="3800000" cy="145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9" name="card accent"/>
          <p:cNvSpPr/>
          <p:nvPr/>
        </p:nvSpPr>
        <p:spPr>
          <a:xfrm>
            <a:off x="520000" y="2850000"/>
            <a:ext cx="70000" cy="1450000"/>
          </a:xfrm>
          <a:prstGeom prst="rect">
            <a:avLst/>
          </a:prstGeom>
          <a:solidFill>
            <a:srgbClr val="1D4ED8"/>
          </a:solidFill>
          <a:ln w="9000">
            <a:solidFill>
              <a:srgbClr val="1D4ED8"/>
            </a:solidFill>
          </a:ln>
        </p:spPr>
      </p:sp>
      <p:sp>
        <p:nvSpPr>
          <p:cNvPr id="1010" name="card title"/>
          <p:cNvSpPr txBox="1"/>
          <p:nvPr/>
        </p:nvSpPr>
        <p:spPr>
          <a:xfrm>
            <a:off x="680000" y="2980000"/>
            <a:ext cx="35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팀 운영 방식</a:t>
            </a:r>
            <a:endParaRPr lang="ko-KR" sz="1500"/>
          </a:p>
        </p:txBody>
      </p:sp>
      <p:sp>
        <p:nvSpPr>
          <p:cNvPr id="1011" name="card body"/>
          <p:cNvSpPr txBox="1"/>
          <p:nvPr/>
        </p:nvSpPr>
        <p:spPr>
          <a:xfrm>
            <a:off x="680000" y="3360000"/>
            <a:ext cx="3550000" cy="8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서비스 기획, OpenAPI 활용 구조,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프롬프트 설계, 엔노이아 구현을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공동으로 진행했습니다.</a:t>
            </a:r>
            <a:endParaRPr lang="ko-KR" sz="1200"/>
          </a:p>
        </p:txBody>
      </p:sp>
      <p:sp>
        <p:nvSpPr>
          <p:cNvPr id="1012" name="card"/>
          <p:cNvSpPr/>
          <p:nvPr/>
        </p:nvSpPr>
        <p:spPr>
          <a:xfrm>
            <a:off x="4850000" y="950000"/>
            <a:ext cx="3650000" cy="145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13" name="card accent"/>
          <p:cNvSpPr/>
          <p:nvPr/>
        </p:nvSpPr>
        <p:spPr>
          <a:xfrm>
            <a:off x="4850000" y="950000"/>
            <a:ext cx="70000" cy="1450000"/>
          </a:xfrm>
          <a:prstGeom prst="rect">
            <a:avLst/>
          </a:prstGeom>
          <a:solidFill>
            <a:srgbClr val="166534"/>
          </a:solidFill>
          <a:ln w="9000">
            <a:solidFill>
              <a:srgbClr val="166534"/>
            </a:solidFill>
          </a:ln>
        </p:spPr>
      </p:sp>
      <p:sp>
        <p:nvSpPr>
          <p:cNvPr id="1014" name="card title"/>
          <p:cNvSpPr txBox="1"/>
          <p:nvPr/>
        </p:nvSpPr>
        <p:spPr>
          <a:xfrm>
            <a:off x="5010000" y="1080000"/>
            <a:ext cx="34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전민정</a:t>
            </a:r>
            <a:endParaRPr lang="ko-KR" sz="1500"/>
          </a:p>
        </p:txBody>
      </p:sp>
      <p:sp>
        <p:nvSpPr>
          <p:cNvPr id="1015" name="card body"/>
          <p:cNvSpPr txBox="1"/>
          <p:nvPr/>
        </p:nvSpPr>
        <p:spPr>
          <a:xfrm>
            <a:off x="5010000" y="1460000"/>
            <a:ext cx="3400000" cy="8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역할: 서비스 기획 및 개발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담당: OpenAPI 활용 구조 정리,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서비스 기획 및 엔노이아 구현 참여</a:t>
            </a:r>
            <a:endParaRPr lang="ko-KR" sz="1200"/>
          </a:p>
        </p:txBody>
      </p:sp>
      <p:sp>
        <p:nvSpPr>
          <p:cNvPr id="1016" name="card"/>
          <p:cNvSpPr/>
          <p:nvPr/>
        </p:nvSpPr>
        <p:spPr>
          <a:xfrm>
            <a:off x="4850000" y="2700000"/>
            <a:ext cx="3650000" cy="145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17" name="card accent"/>
          <p:cNvSpPr/>
          <p:nvPr/>
        </p:nvSpPr>
        <p:spPr>
          <a:xfrm>
            <a:off x="4850000" y="2700000"/>
            <a:ext cx="70000" cy="1450000"/>
          </a:xfrm>
          <a:prstGeom prst="rect">
            <a:avLst/>
          </a:prstGeom>
          <a:solidFill>
            <a:srgbClr val="B45309"/>
          </a:solidFill>
          <a:ln w="9000">
            <a:solidFill>
              <a:srgbClr val="B45309"/>
            </a:solidFill>
          </a:ln>
        </p:spPr>
      </p:sp>
      <p:sp>
        <p:nvSpPr>
          <p:cNvPr id="1018" name="card title"/>
          <p:cNvSpPr txBox="1"/>
          <p:nvPr/>
        </p:nvSpPr>
        <p:spPr>
          <a:xfrm>
            <a:off x="5010000" y="2830000"/>
            <a:ext cx="34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안중현</a:t>
            </a:r>
            <a:endParaRPr lang="ko-KR" sz="1500"/>
          </a:p>
        </p:txBody>
      </p:sp>
      <p:sp>
        <p:nvSpPr>
          <p:cNvPr id="1019" name="card body"/>
          <p:cNvSpPr txBox="1"/>
          <p:nvPr/>
        </p:nvSpPr>
        <p:spPr>
          <a:xfrm>
            <a:off x="5010000" y="3210000"/>
            <a:ext cx="3400000" cy="8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역할: 서비스 기획 및 개발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담당: 프롬프트 설계, 데이터 흐름 정리,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서비스 기획 및 엔노이아 구현 참여</a:t>
            </a:r>
            <a:endParaRPr lang="ko-KR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Google Shape;79;p16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0" name="Google Shape;80;p16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82" name="Google Shape;82;p16"/>
          <p:cNvGraphicFramePr/>
          <p:nvPr/>
        </p:nvGraphicFramePr>
        <p:xfrm>
          <a:off x="236425" y="13270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995500"/>
                <a:gridCol w="7576000"/>
              </a:tblGrid>
              <a:tr h="205450">
                <a:tc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chemeClr val="lt1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10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  <a:tr h="341325">
                <a:tc rowSpan="2">
                  <a:txBody>
                    <a:bodyPr/>
                    <a:lstStyle/>
                    <a:p>
                      <a:pPr indent="-50800" lvl="0" marL="5080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" sz="1000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sz="1000">
                        <a:solidFill>
                          <a:srgbClr val="FFFFFF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45725" marL="45725" anchor="ctr">
                    <a:lnL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66FF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0000" marB="90000" marR="90000" marL="90000" anchor="ctr">
                    <a:lnL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D9D9D9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341325">
                <a:tc vMerge="1"/>
                <a:tc vMerge="1"/>
              </a:tr>
            </a:tbl>
          </a:graphicData>
        </a:graphic>
      </p:graphicFrame>
      <p:sp>
        <p:nvSpPr>
          <p:cNvPr id="1001" name="accent bar"/>
          <p:cNvSpPr/>
          <p:nvPr/>
        </p:nvSpPr>
        <p:spPr>
          <a:xfrm>
            <a:off x="270000" y="225000"/>
            <a:ext cx="90000" cy="3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2" name="title"/>
          <p:cNvSpPr txBox="1"/>
          <p:nvPr/>
        </p:nvSpPr>
        <p:spPr>
          <a:xfrm>
            <a:off x="420000" y="23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14213D"/>
                </a:solidFill>
                <a:latin typeface="Noto Sans CJK KR"/>
                <a:ea typeface="Noto Sans CJK KR"/>
              </a:rPr>
              <a:t>서비스 소개</a:t>
            </a:r>
            <a:endParaRPr lang="ko-KR" sz="2000"/>
          </a:p>
        </p:txBody>
      </p:sp>
      <p:sp>
        <p:nvSpPr>
          <p:cNvPr id="1003" name="kicker"/>
          <p:cNvSpPr txBox="1"/>
          <p:nvPr/>
        </p:nvSpPr>
        <p:spPr>
          <a:xfrm>
            <a:off x="7350000" y="245000"/>
            <a:ext cx="1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1000">
                <a:solidFill>
                  <a:srgbClr val="4B5563"/>
                </a:solidFill>
                <a:latin typeface="Noto Sans CJK KR"/>
                <a:ea typeface="Noto Sans CJK KR"/>
              </a:rPr>
              <a:t>문제 정의</a:t>
            </a:r>
            <a:endParaRPr lang="ko-KR" sz="1000"/>
          </a:p>
        </p:txBody>
      </p:sp>
      <p:sp>
        <p:nvSpPr>
          <p:cNvPr id="1004" name="service name"/>
          <p:cNvSpPr txBox="1"/>
          <p:nvPr/>
        </p:nvSpPr>
        <p:spPr>
          <a:xfrm>
            <a:off x="520000" y="840000"/>
            <a:ext cx="7600000" cy="3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200" b="1">
                <a:solidFill>
                  <a:srgbClr val="14213D"/>
                </a:solidFill>
                <a:latin typeface="Noto Sans CJK KR"/>
                <a:ea typeface="Noto Sans CJK KR"/>
              </a:rPr>
              <a:t>도반(Doban): 관광 데이터 기반 지역 창업 분석 챗봇</a:t>
            </a:r>
            <a:endParaRPr lang="ko-KR" sz="2200"/>
          </a:p>
        </p:txBody>
      </p:sp>
      <p:sp>
        <p:nvSpPr>
          <p:cNvPr id="1005" name="card"/>
          <p:cNvSpPr/>
          <p:nvPr/>
        </p:nvSpPr>
        <p:spPr>
          <a:xfrm>
            <a:off x="520000" y="1300000"/>
            <a:ext cx="8100000" cy="95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6" name="card accent"/>
          <p:cNvSpPr/>
          <p:nvPr/>
        </p:nvSpPr>
        <p:spPr>
          <a:xfrm>
            <a:off x="520000" y="1300000"/>
            <a:ext cx="70000" cy="95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7" name="card title"/>
          <p:cNvSpPr txBox="1"/>
          <p:nvPr/>
        </p:nvSpPr>
        <p:spPr>
          <a:xfrm>
            <a:off x="680000" y="1430000"/>
            <a:ext cx="78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서비스 요약</a:t>
            </a:r>
            <a:endParaRPr lang="ko-KR" sz="1500"/>
          </a:p>
        </p:txBody>
      </p:sp>
      <p:sp>
        <p:nvSpPr>
          <p:cNvPr id="1008" name="card body"/>
          <p:cNvSpPr txBox="1"/>
          <p:nvPr/>
        </p:nvSpPr>
        <p:spPr>
          <a:xfrm>
            <a:off x="680000" y="1810000"/>
            <a:ext cx="7850000" cy="3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지역명이나 관광지명, 관심 업종을 입력하면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한국관광공사 OpenAPI를 호출해 지역 관광 흐름과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창업 기회를 미니 컨설팅 리포트로 제공합니다.</a:t>
            </a:r>
            <a:endParaRPr lang="ko-KR" sz="1200"/>
          </a:p>
        </p:txBody>
      </p:sp>
      <p:sp>
        <p:nvSpPr>
          <p:cNvPr id="1009" name="card"/>
          <p:cNvSpPr/>
          <p:nvPr/>
        </p:nvSpPr>
        <p:spPr>
          <a:xfrm>
            <a:off x="520000" y="2550000"/>
            <a:ext cx="3950000" cy="15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10" name="card accent"/>
          <p:cNvSpPr/>
          <p:nvPr/>
        </p:nvSpPr>
        <p:spPr>
          <a:xfrm>
            <a:off x="520000" y="2550000"/>
            <a:ext cx="70000" cy="1500000"/>
          </a:xfrm>
          <a:prstGeom prst="rect">
            <a:avLst/>
          </a:prstGeom>
          <a:solidFill>
            <a:srgbClr val="1D4ED8"/>
          </a:solidFill>
          <a:ln w="9000">
            <a:solidFill>
              <a:srgbClr val="1D4ED8"/>
            </a:solidFill>
          </a:ln>
        </p:spPr>
      </p:sp>
      <p:sp>
        <p:nvSpPr>
          <p:cNvPr id="1011" name="card title"/>
          <p:cNvSpPr txBox="1"/>
          <p:nvPr/>
        </p:nvSpPr>
        <p:spPr>
          <a:xfrm>
            <a:off x="680000" y="2680000"/>
            <a:ext cx="37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주제 선정 이유</a:t>
            </a:r>
            <a:endParaRPr lang="ko-KR" sz="1500"/>
          </a:p>
        </p:txBody>
      </p:sp>
      <p:sp>
        <p:nvSpPr>
          <p:cNvPr id="1012" name="card body"/>
          <p:cNvSpPr txBox="1"/>
          <p:nvPr/>
        </p:nvSpPr>
        <p:spPr>
          <a:xfrm>
            <a:off x="680000" y="3060000"/>
            <a:ext cx="3700000" cy="8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예비창업자와 소상공인은 방문자 규모,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소비 가능성, 관광 동선, 자원 수요를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한 번에 파악하기 어렵습니다.</a:t>
            </a:r>
            <a:endParaRPr lang="ko-KR" sz="1200"/>
          </a:p>
        </p:txBody>
      </p:sp>
      <p:sp>
        <p:nvSpPr>
          <p:cNvPr id="1013" name="card"/>
          <p:cNvSpPr/>
          <p:nvPr/>
        </p:nvSpPr>
        <p:spPr>
          <a:xfrm>
            <a:off x="4670000" y="2550000"/>
            <a:ext cx="3950000" cy="15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14" name="card accent"/>
          <p:cNvSpPr/>
          <p:nvPr/>
        </p:nvSpPr>
        <p:spPr>
          <a:xfrm>
            <a:off x="4670000" y="2550000"/>
            <a:ext cx="70000" cy="1500000"/>
          </a:xfrm>
          <a:prstGeom prst="rect">
            <a:avLst/>
          </a:prstGeom>
          <a:solidFill>
            <a:srgbClr val="166534"/>
          </a:solidFill>
          <a:ln w="9000">
            <a:solidFill>
              <a:srgbClr val="166534"/>
            </a:solidFill>
          </a:ln>
        </p:spPr>
      </p:sp>
      <p:sp>
        <p:nvSpPr>
          <p:cNvPr id="1015" name="card title"/>
          <p:cNvSpPr txBox="1"/>
          <p:nvPr/>
        </p:nvSpPr>
        <p:spPr>
          <a:xfrm>
            <a:off x="4830000" y="2680000"/>
            <a:ext cx="370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타겟 사용자</a:t>
            </a:r>
            <a:endParaRPr lang="ko-KR" sz="1500"/>
          </a:p>
        </p:txBody>
      </p:sp>
      <p:sp>
        <p:nvSpPr>
          <p:cNvPr id="1016" name="card body"/>
          <p:cNvSpPr txBox="1"/>
          <p:nvPr/>
        </p:nvSpPr>
        <p:spPr>
          <a:xfrm>
            <a:off x="4830000" y="3060000"/>
            <a:ext cx="3700000" cy="8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국내 예비창업자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관광 상권 기존 소상공인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로컬 창업자 및 로컬 크리에이터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지자체·관광 유관기관 담당자</a:t>
            </a:r>
            <a:endParaRPr lang="ko-KR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" name="Google Shape;87;p17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8" name="Google Shape;88;p17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89" name="Google Shape;89;p17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0" name="Google Shape;90;p17"/>
          <p:cNvSpPr txBox="1"/>
          <p:nvPr/>
        </p:nvSpPr>
        <p:spPr>
          <a:xfrm>
            <a:off x="261300" y="1953254"/>
            <a:ext cx="86214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0" spcFirstLastPara="1" rIns="91425" wrap="square" tIns="91425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accent bar"/>
          <p:cNvSpPr/>
          <p:nvPr/>
        </p:nvSpPr>
        <p:spPr>
          <a:xfrm>
            <a:off x="270000" y="225000"/>
            <a:ext cx="90000" cy="3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2" name="title"/>
          <p:cNvSpPr txBox="1"/>
          <p:nvPr/>
        </p:nvSpPr>
        <p:spPr>
          <a:xfrm>
            <a:off x="420000" y="23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14213D"/>
                </a:solidFill>
                <a:latin typeface="Noto Sans CJK KR"/>
                <a:ea typeface="Noto Sans CJK KR"/>
              </a:rPr>
              <a:t>서비스 한 줄 요약</a:t>
            </a:r>
            <a:endParaRPr lang="ko-KR" sz="2000"/>
          </a:p>
        </p:txBody>
      </p:sp>
      <p:sp>
        <p:nvSpPr>
          <p:cNvPr id="1003" name="kicker"/>
          <p:cNvSpPr txBox="1"/>
          <p:nvPr/>
        </p:nvSpPr>
        <p:spPr>
          <a:xfrm>
            <a:off x="7350000" y="245000"/>
            <a:ext cx="1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1000">
                <a:solidFill>
                  <a:srgbClr val="4B5563"/>
                </a:solidFill>
                <a:latin typeface="Noto Sans CJK KR"/>
                <a:ea typeface="Noto Sans CJK KR"/>
              </a:rPr>
              <a:t>핵심 기능</a:t>
            </a:r>
            <a:endParaRPr lang="ko-KR" sz="1000"/>
          </a:p>
        </p:txBody>
      </p:sp>
      <p:sp>
        <p:nvSpPr>
          <p:cNvPr id="1004" name="quote bg"/>
          <p:cNvSpPr/>
          <p:nvPr/>
        </p:nvSpPr>
        <p:spPr>
          <a:xfrm>
            <a:off x="600000" y="950000"/>
            <a:ext cx="8000000" cy="1000000"/>
          </a:xfrm>
          <a:prstGeom prst="rect">
            <a:avLst/>
          </a:prstGeom>
          <a:solidFill>
            <a:srgbClr val="D9F3EF"/>
          </a:solidFill>
          <a:ln w="9000">
            <a:solidFill>
              <a:srgbClr val="D9F3EF"/>
            </a:solidFill>
          </a:ln>
        </p:spPr>
      </p:sp>
      <p:sp>
        <p:nvSpPr>
          <p:cNvPr id="1005" name="quote"/>
          <p:cNvSpPr txBox="1"/>
          <p:nvPr/>
        </p:nvSpPr>
        <p:spPr>
          <a:xfrm>
            <a:off x="900000" y="1190000"/>
            <a:ext cx="74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2100" b="1">
                <a:solidFill>
                  <a:srgbClr val="14213D"/>
                </a:solidFill>
                <a:latin typeface="Noto Sans CJK KR"/>
                <a:ea typeface="Noto Sans CJK KR"/>
              </a:rPr>
              <a:t>우리는 관광 상권 창업 판단의 어려움을 OpenAPI 기반 미니 컨설팅 리포트로 해결합니다.</a:t>
            </a:r>
            <a:endParaRPr lang="ko-KR" sz="2100"/>
          </a:p>
        </p:txBody>
      </p:sp>
      <p:sp>
        <p:nvSpPr>
          <p:cNvPr id="1006" name="card"/>
          <p:cNvSpPr/>
          <p:nvPr/>
        </p:nvSpPr>
        <p:spPr>
          <a:xfrm>
            <a:off x="620000" y="2350000"/>
            <a:ext cx="2500000" cy="15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7" name="card accent"/>
          <p:cNvSpPr/>
          <p:nvPr/>
        </p:nvSpPr>
        <p:spPr>
          <a:xfrm>
            <a:off x="620000" y="2350000"/>
            <a:ext cx="70000" cy="15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8" name="card title"/>
          <p:cNvSpPr txBox="1"/>
          <p:nvPr/>
        </p:nvSpPr>
        <p:spPr>
          <a:xfrm>
            <a:off x="780000" y="2480000"/>
            <a:ext cx="22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1. 지역 확인</a:t>
            </a:r>
            <a:endParaRPr lang="ko-KR" sz="1500"/>
          </a:p>
        </p:txBody>
      </p:sp>
      <p:sp>
        <p:nvSpPr>
          <p:cNvPr id="1009" name="card body"/>
          <p:cNvSpPr txBox="1"/>
          <p:nvPr/>
        </p:nvSpPr>
        <p:spPr>
          <a:xfrm>
            <a:off x="780000" y="2860000"/>
            <a:ext cx="2250000" cy="8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지역명과 관광지명을 구분하고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분석 가능한 행정구역 코드로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변환합니다.</a:t>
            </a:r>
            <a:endParaRPr lang="ko-KR" sz="1200"/>
          </a:p>
        </p:txBody>
      </p:sp>
      <p:sp>
        <p:nvSpPr>
          <p:cNvPr id="1010" name="card"/>
          <p:cNvSpPr/>
          <p:nvPr/>
        </p:nvSpPr>
        <p:spPr>
          <a:xfrm>
            <a:off x="3370000" y="2350000"/>
            <a:ext cx="2500000" cy="15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11" name="card accent"/>
          <p:cNvSpPr/>
          <p:nvPr/>
        </p:nvSpPr>
        <p:spPr>
          <a:xfrm>
            <a:off x="3370000" y="2350000"/>
            <a:ext cx="70000" cy="1500000"/>
          </a:xfrm>
          <a:prstGeom prst="rect">
            <a:avLst/>
          </a:prstGeom>
          <a:solidFill>
            <a:srgbClr val="1D4ED8"/>
          </a:solidFill>
          <a:ln w="9000">
            <a:solidFill>
              <a:srgbClr val="1D4ED8"/>
            </a:solidFill>
          </a:ln>
        </p:spPr>
      </p:sp>
      <p:sp>
        <p:nvSpPr>
          <p:cNvPr id="1012" name="card title"/>
          <p:cNvSpPr txBox="1"/>
          <p:nvPr/>
        </p:nvSpPr>
        <p:spPr>
          <a:xfrm>
            <a:off x="3530000" y="2480000"/>
            <a:ext cx="22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2. 데이터 조합</a:t>
            </a:r>
            <a:endParaRPr lang="ko-KR" sz="1500"/>
          </a:p>
        </p:txBody>
      </p:sp>
      <p:sp>
        <p:nvSpPr>
          <p:cNvPr id="1013" name="card body"/>
          <p:cNvSpPr txBox="1"/>
          <p:nvPr/>
        </p:nvSpPr>
        <p:spPr>
          <a:xfrm>
            <a:off x="3530000" y="2860000"/>
            <a:ext cx="2250000" cy="8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방문자, 체류, 소비, 자원,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동선, 웰니스 데이터를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함께 해석합니다.</a:t>
            </a:r>
            <a:endParaRPr lang="ko-KR" sz="1200"/>
          </a:p>
        </p:txBody>
      </p:sp>
      <p:sp>
        <p:nvSpPr>
          <p:cNvPr id="1014" name="card"/>
          <p:cNvSpPr/>
          <p:nvPr/>
        </p:nvSpPr>
        <p:spPr>
          <a:xfrm>
            <a:off x="6120000" y="2350000"/>
            <a:ext cx="2500000" cy="15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15" name="card accent"/>
          <p:cNvSpPr/>
          <p:nvPr/>
        </p:nvSpPr>
        <p:spPr>
          <a:xfrm>
            <a:off x="6120000" y="2350000"/>
            <a:ext cx="70000" cy="1500000"/>
          </a:xfrm>
          <a:prstGeom prst="rect">
            <a:avLst/>
          </a:prstGeom>
          <a:solidFill>
            <a:srgbClr val="166534"/>
          </a:solidFill>
          <a:ln w="9000">
            <a:solidFill>
              <a:srgbClr val="166534"/>
            </a:solidFill>
          </a:ln>
        </p:spPr>
      </p:sp>
      <p:sp>
        <p:nvSpPr>
          <p:cNvPr id="1016" name="card title"/>
          <p:cNvSpPr txBox="1"/>
          <p:nvPr/>
        </p:nvSpPr>
        <p:spPr>
          <a:xfrm>
            <a:off x="6280000" y="2480000"/>
            <a:ext cx="22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3. 창업 제안</a:t>
            </a:r>
            <a:endParaRPr lang="ko-KR" sz="1500"/>
          </a:p>
        </p:txBody>
      </p:sp>
      <p:sp>
        <p:nvSpPr>
          <p:cNvPr id="1017" name="card body"/>
          <p:cNvSpPr txBox="1"/>
          <p:nvPr/>
        </p:nvSpPr>
        <p:spPr>
          <a:xfrm>
            <a:off x="6280000" y="2860000"/>
            <a:ext cx="2250000" cy="8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아이템 추천과 함께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리스크와 추가 확인사항을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제시합니다.</a:t>
            </a:r>
            <a:endParaRPr lang="ko-KR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5" name="Google Shape;95;p18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8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97" name="Google Shape;97;p18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8" name="Google Shape;98;p18"/>
          <p:cNvSpPr txBox="1"/>
          <p:nvPr/>
        </p:nvSpPr>
        <p:spPr>
          <a:xfrm>
            <a:off x="270000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9" name="Google Shape;99;p18"/>
          <p:cNvSpPr txBox="1"/>
          <p:nvPr/>
        </p:nvSpPr>
        <p:spPr>
          <a:xfrm>
            <a:off x="270000" y="1819375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82354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17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" name="Google Shape;100;p18"/>
          <p:cNvSpPr txBox="1"/>
          <p:nvPr/>
        </p:nvSpPr>
        <p:spPr>
          <a:xfrm>
            <a:off x="5061275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1" name="Google Shape;101;p18"/>
          <p:cNvSpPr txBox="1"/>
          <p:nvPr/>
        </p:nvSpPr>
        <p:spPr>
          <a:xfrm>
            <a:off x="5061275" y="1819450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17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02" name="Google Shape;102;p18"/>
          <p:cNvGrpSpPr/>
          <p:nvPr/>
        </p:nvGrpSpPr>
        <p:grpSpPr>
          <a:xfrm>
            <a:off x="3951396" y="2838330"/>
            <a:ext cx="1206727" cy="552107"/>
            <a:chOff x="5340068" y="3633028"/>
            <a:chExt cx="1512000" cy="691777"/>
          </a:xfrm>
        </p:grpSpPr>
        <p:sp>
          <p:nvSpPr>
            <p:cNvPr id="103" name="Google Shape;103;p18"/>
            <p:cNvSpPr/>
            <p:nvPr/>
          </p:nvSpPr>
          <p:spPr>
            <a:xfrm>
              <a:off x="5340068" y="3698398"/>
              <a:ext cx="1512000" cy="60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5D8F1"/>
            </a:solidFill>
            <a:ln>
              <a:noFill/>
            </a:ln>
          </p:spPr>
          <p:txBody>
            <a:bodyPr anchorCtr="0" anchor="ctr" bIns="36475" lIns="72975" spcFirstLastPara="1" rIns="72975" wrap="square" tIns="36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04" name="Google Shape;104;p18"/>
            <p:cNvGrpSpPr/>
            <p:nvPr/>
          </p:nvGrpSpPr>
          <p:grpSpPr>
            <a:xfrm>
              <a:off x="5657982" y="3633028"/>
              <a:ext cx="693905" cy="691777"/>
              <a:chOff x="5549900" y="6350"/>
              <a:chExt cx="998425" cy="995363"/>
            </a:xfrm>
          </p:grpSpPr>
          <p:sp>
            <p:nvSpPr>
              <p:cNvPr id="105" name="Google Shape;105;p18"/>
              <p:cNvSpPr/>
              <p:nvPr/>
            </p:nvSpPr>
            <p:spPr>
              <a:xfrm>
                <a:off x="6122988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18"/>
              <p:cNvSpPr/>
              <p:nvPr/>
            </p:nvSpPr>
            <p:spPr>
              <a:xfrm>
                <a:off x="6210300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18"/>
              <p:cNvSpPr/>
              <p:nvPr/>
            </p:nvSpPr>
            <p:spPr>
              <a:xfrm>
                <a:off x="6169025" y="131763"/>
                <a:ext cx="44450" cy="57150"/>
              </a:xfrm>
              <a:custGeom>
                <a:rect b="b" l="l" r="r" t="t"/>
                <a:pathLst>
                  <a:path extrusionOk="0" h="36" w="28">
                    <a:moveTo>
                      <a:pt x="0" y="0"/>
                    </a:moveTo>
                    <a:lnTo>
                      <a:pt x="0" y="19"/>
                    </a:lnTo>
                    <a:lnTo>
                      <a:pt x="9" y="19"/>
                    </a:lnTo>
                    <a:lnTo>
                      <a:pt x="9" y="36"/>
                    </a:lnTo>
                    <a:lnTo>
                      <a:pt x="28" y="36"/>
                    </a:lnTo>
                    <a:lnTo>
                      <a:pt x="28" y="17"/>
                    </a:lnTo>
                    <a:lnTo>
                      <a:pt x="19" y="17"/>
                    </a:lnTo>
                    <a:lnTo>
                      <a:pt x="1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18"/>
              <p:cNvSpPr/>
              <p:nvPr/>
            </p:nvSpPr>
            <p:spPr>
              <a:xfrm>
                <a:off x="6316663" y="230188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18"/>
              <p:cNvSpPr/>
              <p:nvPr/>
            </p:nvSpPr>
            <p:spPr>
              <a:xfrm>
                <a:off x="6138863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18"/>
              <p:cNvSpPr/>
              <p:nvPr/>
            </p:nvSpPr>
            <p:spPr>
              <a:xfrm>
                <a:off x="6213475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18"/>
              <p:cNvSpPr/>
              <p:nvPr/>
            </p:nvSpPr>
            <p:spPr>
              <a:xfrm>
                <a:off x="6175375" y="792163"/>
                <a:ext cx="46038" cy="60325"/>
              </a:xfrm>
              <a:custGeom>
                <a:rect b="b" l="l" r="r" t="t"/>
                <a:pathLst>
                  <a:path extrusionOk="0" h="38" w="29">
                    <a:moveTo>
                      <a:pt x="20" y="19"/>
                    </a:moveTo>
                    <a:lnTo>
                      <a:pt x="29" y="19"/>
                    </a:lnTo>
                    <a:lnTo>
                      <a:pt x="29" y="0"/>
                    </a:lnTo>
                    <a:lnTo>
                      <a:pt x="10" y="0"/>
                    </a:lnTo>
                    <a:lnTo>
                      <a:pt x="10" y="19"/>
                    </a:lnTo>
                    <a:lnTo>
                      <a:pt x="0" y="19"/>
                    </a:lnTo>
                    <a:lnTo>
                      <a:pt x="0" y="38"/>
                    </a:lnTo>
                    <a:lnTo>
                      <a:pt x="20" y="38"/>
                    </a:lnTo>
                    <a:lnTo>
                      <a:pt x="2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18"/>
              <p:cNvSpPr/>
              <p:nvPr/>
            </p:nvSpPr>
            <p:spPr>
              <a:xfrm>
                <a:off x="6327775" y="701675"/>
                <a:ext cx="45900" cy="44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18"/>
              <p:cNvSpPr/>
              <p:nvPr/>
            </p:nvSpPr>
            <p:spPr>
              <a:xfrm>
                <a:off x="6169025" y="488950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18"/>
              <p:cNvSpPr/>
              <p:nvPr/>
            </p:nvSpPr>
            <p:spPr>
              <a:xfrm>
                <a:off x="6243638" y="360363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18"/>
              <p:cNvSpPr/>
              <p:nvPr/>
            </p:nvSpPr>
            <p:spPr>
              <a:xfrm>
                <a:off x="6243638" y="587375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18"/>
              <p:cNvSpPr/>
              <p:nvPr/>
            </p:nvSpPr>
            <p:spPr>
              <a:xfrm>
                <a:off x="6281738" y="481013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18"/>
              <p:cNvSpPr/>
              <p:nvPr/>
            </p:nvSpPr>
            <p:spPr>
              <a:xfrm>
                <a:off x="6380163" y="477838"/>
                <a:ext cx="57300" cy="525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18"/>
              <p:cNvSpPr/>
              <p:nvPr/>
            </p:nvSpPr>
            <p:spPr>
              <a:xfrm>
                <a:off x="6319838" y="11271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18"/>
              <p:cNvSpPr/>
              <p:nvPr/>
            </p:nvSpPr>
            <p:spPr>
              <a:xfrm>
                <a:off x="6450013" y="279400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18"/>
              <p:cNvSpPr/>
              <p:nvPr/>
            </p:nvSpPr>
            <p:spPr>
              <a:xfrm>
                <a:off x="5549900" y="6350"/>
                <a:ext cx="679450" cy="995363"/>
              </a:xfrm>
              <a:custGeom>
                <a:rect b="b" l="l" r="r" t="t"/>
                <a:pathLst>
                  <a:path extrusionOk="0" h="262" w="179">
                    <a:moveTo>
                      <a:pt x="163" y="242"/>
                    </a:moveTo>
                    <a:cubicBezTo>
                      <a:pt x="147" y="242"/>
                      <a:pt x="147" y="242"/>
                      <a:pt x="147" y="242"/>
                    </a:cubicBezTo>
                    <a:cubicBezTo>
                      <a:pt x="147" y="246"/>
                      <a:pt x="147" y="246"/>
                      <a:pt x="147" y="246"/>
                    </a:cubicBezTo>
                    <a:cubicBezTo>
                      <a:pt x="131" y="246"/>
                      <a:pt x="131" y="246"/>
                      <a:pt x="131" y="246"/>
                    </a:cubicBezTo>
                    <a:cubicBezTo>
                      <a:pt x="101" y="246"/>
                      <a:pt x="72" y="234"/>
                      <a:pt x="50" y="213"/>
                    </a:cubicBezTo>
                    <a:cubicBezTo>
                      <a:pt x="28" y="191"/>
                      <a:pt x="16" y="162"/>
                      <a:pt x="16" y="131"/>
                    </a:cubicBezTo>
                    <a:cubicBezTo>
                      <a:pt x="16" y="100"/>
                      <a:pt x="28" y="71"/>
                      <a:pt x="50" y="50"/>
                    </a:cubicBezTo>
                    <a:cubicBezTo>
                      <a:pt x="72" y="28"/>
                      <a:pt x="101" y="16"/>
                      <a:pt x="131" y="16"/>
                    </a:cubicBezTo>
                    <a:cubicBezTo>
                      <a:pt x="147" y="16"/>
                      <a:pt x="147" y="16"/>
                      <a:pt x="147" y="16"/>
                    </a:cubicBezTo>
                    <a:cubicBezTo>
                      <a:pt x="147" y="20"/>
                      <a:pt x="147" y="20"/>
                      <a:pt x="147" y="20"/>
                    </a:cubicBezTo>
                    <a:cubicBezTo>
                      <a:pt x="163" y="20"/>
                      <a:pt x="163" y="20"/>
                      <a:pt x="163" y="20"/>
                    </a:cubicBezTo>
                    <a:cubicBezTo>
                      <a:pt x="163" y="24"/>
                      <a:pt x="163" y="24"/>
                      <a:pt x="163" y="24"/>
                    </a:cubicBezTo>
                    <a:cubicBezTo>
                      <a:pt x="179" y="24"/>
                      <a:pt x="179" y="24"/>
                      <a:pt x="179" y="24"/>
                    </a:cubicBezTo>
                    <a:cubicBezTo>
                      <a:pt x="179" y="8"/>
                      <a:pt x="179" y="8"/>
                      <a:pt x="179" y="8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4"/>
                      <a:pt x="163" y="4"/>
                      <a:pt x="163" y="4"/>
                    </a:cubicBezTo>
                    <a:cubicBezTo>
                      <a:pt x="147" y="4"/>
                      <a:pt x="147" y="4"/>
                      <a:pt x="147" y="4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59" y="0"/>
                      <a:pt x="0" y="59"/>
                      <a:pt x="0" y="131"/>
                    </a:cubicBezTo>
                    <a:cubicBezTo>
                      <a:pt x="0" y="204"/>
                      <a:pt x="59" y="262"/>
                      <a:pt x="131" y="262"/>
                    </a:cubicBezTo>
                    <a:cubicBezTo>
                      <a:pt x="147" y="262"/>
                      <a:pt x="147" y="262"/>
                      <a:pt x="147" y="262"/>
                    </a:cubicBezTo>
                    <a:cubicBezTo>
                      <a:pt x="147" y="258"/>
                      <a:pt x="147" y="258"/>
                      <a:pt x="147" y="258"/>
                    </a:cubicBezTo>
                    <a:cubicBezTo>
                      <a:pt x="163" y="258"/>
                      <a:pt x="163" y="258"/>
                      <a:pt x="163" y="258"/>
                    </a:cubicBezTo>
                    <a:cubicBezTo>
                      <a:pt x="163" y="254"/>
                      <a:pt x="163" y="254"/>
                      <a:pt x="163" y="254"/>
                    </a:cubicBezTo>
                    <a:cubicBezTo>
                      <a:pt x="179" y="254"/>
                      <a:pt x="179" y="254"/>
                      <a:pt x="179" y="254"/>
                    </a:cubicBezTo>
                    <a:cubicBezTo>
                      <a:pt x="179" y="238"/>
                      <a:pt x="179" y="238"/>
                      <a:pt x="179" y="238"/>
                    </a:cubicBezTo>
                    <a:cubicBezTo>
                      <a:pt x="163" y="238"/>
                      <a:pt x="163" y="238"/>
                      <a:pt x="163" y="238"/>
                    </a:cubicBezTo>
                    <a:lnTo>
                      <a:pt x="163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8"/>
              <p:cNvSpPr/>
              <p:nvPr/>
            </p:nvSpPr>
            <p:spPr>
              <a:xfrm>
                <a:off x="6319838" y="833438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8"/>
              <p:cNvSpPr/>
              <p:nvPr/>
            </p:nvSpPr>
            <p:spPr>
              <a:xfrm>
                <a:off x="6450013" y="65246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18"/>
              <p:cNvSpPr/>
              <p:nvPr/>
            </p:nvSpPr>
            <p:spPr>
              <a:xfrm>
                <a:off x="6486525" y="473075"/>
                <a:ext cx="618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18"/>
              <p:cNvSpPr/>
              <p:nvPr/>
            </p:nvSpPr>
            <p:spPr>
              <a:xfrm>
                <a:off x="5667375" y="123825"/>
                <a:ext cx="455613" cy="758825"/>
              </a:xfrm>
              <a:custGeom>
                <a:rect b="b" l="l" r="r" t="t"/>
                <a:pathLst>
                  <a:path extrusionOk="0" h="200" w="120">
                    <a:moveTo>
                      <a:pt x="120" y="104"/>
                    </a:moveTo>
                    <a:cubicBezTo>
                      <a:pt x="120" y="96"/>
                      <a:pt x="120" y="96"/>
                      <a:pt x="120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12" y="38"/>
                      <a:pt x="112" y="38"/>
                      <a:pt x="112" y="38"/>
                    </a:cubicBezTo>
                    <a:cubicBezTo>
                      <a:pt x="112" y="30"/>
                      <a:pt x="112" y="30"/>
                      <a:pt x="112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3" y="0"/>
                      <a:pt x="102" y="0"/>
                      <a:pt x="100" y="0"/>
                    </a:cubicBezTo>
                    <a:cubicBezTo>
                      <a:pt x="99" y="0"/>
                      <a:pt x="98" y="0"/>
                      <a:pt x="96" y="0"/>
                    </a:cubicBezTo>
                    <a:cubicBezTo>
                      <a:pt x="96" y="30"/>
                      <a:pt x="96" y="30"/>
                      <a:pt x="96" y="30"/>
                    </a:cubicBezTo>
                    <a:cubicBezTo>
                      <a:pt x="59" y="30"/>
                      <a:pt x="59" y="30"/>
                      <a:pt x="59" y="30"/>
                    </a:cubicBezTo>
                    <a:cubicBezTo>
                      <a:pt x="63" y="20"/>
                      <a:pt x="66" y="12"/>
                      <a:pt x="71" y="5"/>
                    </a:cubicBezTo>
                    <a:cubicBezTo>
                      <a:pt x="67" y="6"/>
                      <a:pt x="63" y="7"/>
                      <a:pt x="59" y="9"/>
                    </a:cubicBezTo>
                    <a:cubicBezTo>
                      <a:pt x="56" y="15"/>
                      <a:pt x="53" y="23"/>
                      <a:pt x="51" y="30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26" y="33"/>
                      <a:pt x="24" y="35"/>
                      <a:pt x="22" y="38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44" y="56"/>
                      <a:pt x="41" y="76"/>
                      <a:pt x="41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8"/>
                      <a:pt x="0" y="99"/>
                      <a:pt x="0" y="100"/>
                    </a:cubicBezTo>
                    <a:cubicBezTo>
                      <a:pt x="0" y="102"/>
                      <a:pt x="0" y="103"/>
                      <a:pt x="0" y="104"/>
                    </a:cubicBezTo>
                    <a:cubicBezTo>
                      <a:pt x="41" y="104"/>
                      <a:pt x="41" y="104"/>
                      <a:pt x="41" y="104"/>
                    </a:cubicBezTo>
                    <a:cubicBezTo>
                      <a:pt x="41" y="122"/>
                      <a:pt x="43" y="138"/>
                      <a:pt x="47" y="154"/>
                    </a:cubicBezTo>
                    <a:cubicBezTo>
                      <a:pt x="16" y="154"/>
                      <a:pt x="16" y="154"/>
                      <a:pt x="16" y="154"/>
                    </a:cubicBezTo>
                    <a:cubicBezTo>
                      <a:pt x="17" y="156"/>
                      <a:pt x="19" y="159"/>
                      <a:pt x="21" y="162"/>
                    </a:cubicBezTo>
                    <a:cubicBezTo>
                      <a:pt x="48" y="162"/>
                      <a:pt x="48" y="162"/>
                      <a:pt x="48" y="162"/>
                    </a:cubicBezTo>
                    <a:cubicBezTo>
                      <a:pt x="51" y="173"/>
                      <a:pt x="55" y="183"/>
                      <a:pt x="59" y="191"/>
                    </a:cubicBezTo>
                    <a:cubicBezTo>
                      <a:pt x="63" y="193"/>
                      <a:pt x="67" y="195"/>
                      <a:pt x="71" y="196"/>
                    </a:cubicBezTo>
                    <a:cubicBezTo>
                      <a:pt x="65" y="187"/>
                      <a:pt x="60" y="175"/>
                      <a:pt x="57" y="162"/>
                    </a:cubicBezTo>
                    <a:cubicBezTo>
                      <a:pt x="96" y="162"/>
                      <a:pt x="96" y="162"/>
                      <a:pt x="96" y="162"/>
                    </a:cubicBezTo>
                    <a:cubicBezTo>
                      <a:pt x="96" y="200"/>
                      <a:pt x="96" y="200"/>
                      <a:pt x="96" y="200"/>
                    </a:cubicBezTo>
                    <a:cubicBezTo>
                      <a:pt x="98" y="200"/>
                      <a:pt x="99" y="200"/>
                      <a:pt x="100" y="200"/>
                    </a:cubicBezTo>
                    <a:cubicBezTo>
                      <a:pt x="102" y="200"/>
                      <a:pt x="103" y="200"/>
                      <a:pt x="104" y="200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12" y="162"/>
                      <a:pt x="112" y="162"/>
                      <a:pt x="112" y="162"/>
                    </a:cubicBezTo>
                    <a:cubicBezTo>
                      <a:pt x="112" y="154"/>
                      <a:pt x="112" y="154"/>
                      <a:pt x="112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lnTo>
                      <a:pt x="120" y="104"/>
                    </a:lnTo>
                    <a:close/>
                    <a:moveTo>
                      <a:pt x="96" y="154"/>
                    </a:moveTo>
                    <a:cubicBezTo>
                      <a:pt x="55" y="154"/>
                      <a:pt x="55" y="154"/>
                      <a:pt x="55" y="154"/>
                    </a:cubicBezTo>
                    <a:cubicBezTo>
                      <a:pt x="51" y="139"/>
                      <a:pt x="49" y="122"/>
                      <a:pt x="49" y="104"/>
                    </a:cubicBezTo>
                    <a:cubicBezTo>
                      <a:pt x="96" y="104"/>
                      <a:pt x="96" y="104"/>
                      <a:pt x="96" y="104"/>
                    </a:cubicBezTo>
                    <a:lnTo>
                      <a:pt x="96" y="154"/>
                    </a:lnTo>
                    <a:close/>
                    <a:moveTo>
                      <a:pt x="96" y="96"/>
                    </a:move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75"/>
                      <a:pt x="52" y="55"/>
                      <a:pt x="57" y="38"/>
                    </a:cubicBezTo>
                    <a:cubicBezTo>
                      <a:pt x="96" y="38"/>
                      <a:pt x="96" y="38"/>
                      <a:pt x="96" y="38"/>
                    </a:cubicBezTo>
                    <a:lnTo>
                      <a:pt x="96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01" name="accent bar"/>
          <p:cNvSpPr/>
          <p:nvPr/>
        </p:nvSpPr>
        <p:spPr>
          <a:xfrm>
            <a:off x="270000" y="225000"/>
            <a:ext cx="90000" cy="3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2" name="title"/>
          <p:cNvSpPr txBox="1"/>
          <p:nvPr/>
        </p:nvSpPr>
        <p:spPr>
          <a:xfrm>
            <a:off x="420000" y="23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14213D"/>
                </a:solidFill>
                <a:latin typeface="Noto Sans CJK KR"/>
                <a:ea typeface="Noto Sans CJK KR"/>
              </a:rPr>
              <a:t>서비스 입력·출력</a:t>
            </a:r>
            <a:endParaRPr lang="ko-KR" sz="2000"/>
          </a:p>
        </p:txBody>
      </p:sp>
      <p:sp>
        <p:nvSpPr>
          <p:cNvPr id="1003" name="kicker"/>
          <p:cNvSpPr txBox="1"/>
          <p:nvPr/>
        </p:nvSpPr>
        <p:spPr>
          <a:xfrm>
            <a:off x="7350000" y="245000"/>
            <a:ext cx="1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1000">
                <a:solidFill>
                  <a:srgbClr val="4B5563"/>
                </a:solidFill>
                <a:latin typeface="Noto Sans CJK KR"/>
                <a:ea typeface="Noto Sans CJK KR"/>
              </a:rPr>
              <a:t>질문에서 리포트까지</a:t>
            </a:r>
            <a:endParaRPr lang="ko-KR" sz="1000"/>
          </a:p>
        </p:txBody>
      </p:sp>
      <p:sp>
        <p:nvSpPr>
          <p:cNvPr id="1004" name="left"/>
          <p:cNvSpPr/>
          <p:nvPr/>
        </p:nvSpPr>
        <p:spPr>
          <a:xfrm>
            <a:off x="520000" y="1000000"/>
            <a:ext cx="3800000" cy="30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5" name="input h"/>
          <p:cNvSpPr txBox="1"/>
          <p:nvPr/>
        </p:nvSpPr>
        <p:spPr>
          <a:xfrm>
            <a:off x="760000" y="1250000"/>
            <a:ext cx="33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0F766E"/>
                </a:solidFill>
                <a:latin typeface="Noto Sans CJK KR"/>
                <a:ea typeface="Noto Sans CJK KR"/>
              </a:rPr>
              <a:t>입력값</a:t>
            </a:r>
            <a:endParaRPr lang="ko-KR" sz="2000"/>
          </a:p>
        </p:txBody>
      </p:sp>
      <p:sp>
        <p:nvSpPr>
          <p:cNvPr id="1006" name="input body"/>
          <p:cNvSpPr txBox="1"/>
          <p:nvPr/>
        </p:nvSpPr>
        <p:spPr>
          <a:xfrm>
            <a:off x="760000" y="1700000"/>
            <a:ext cx="3200000" cy="12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200" b="1">
                <a:solidFill>
                  <a:srgbClr val="14213D"/>
                </a:solidFill>
                <a:latin typeface="Noto Sans CJK KR"/>
                <a:ea typeface="Noto Sans CJK KR"/>
              </a:rPr>
              <a:t>강릉에서 관광객 대상으로</a:t>
            </a:r>
            <a:endParaRPr lang="ko-KR" sz="2200"/>
          </a:p>
          <a:p>
            <a:r>
              <a:rPr lang="ko-KR" sz="2200" b="1">
                <a:solidFill>
                  <a:srgbClr val="14213D"/>
                </a:solidFill>
                <a:latin typeface="Noto Sans CJK KR"/>
                <a:ea typeface="Noto Sans CJK KR"/>
              </a:rPr>
              <a:t>창업하기 좋은 아이템 추천해줘.</a:t>
            </a:r>
            <a:endParaRPr lang="ko-KR" sz="2200"/>
          </a:p>
        </p:txBody>
      </p:sp>
      <p:sp>
        <p:nvSpPr>
          <p:cNvPr id="1007" name="input note"/>
          <p:cNvSpPr txBox="1"/>
          <p:nvPr/>
        </p:nvSpPr>
        <p:spPr>
          <a:xfrm>
            <a:off x="760000" y="3150000"/>
            <a:ext cx="3200000" cy="3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>
                <a:solidFill>
                  <a:srgbClr val="4B5563"/>
                </a:solidFill>
                <a:latin typeface="Noto Sans CJK KR"/>
                <a:ea typeface="Noto Sans CJK KR"/>
              </a:rPr>
              <a:t>지역과 창업 의도를 자연어로 입력</a:t>
            </a:r>
            <a:endParaRPr lang="ko-KR" sz="1300"/>
          </a:p>
        </p:txBody>
      </p:sp>
      <p:sp>
        <p:nvSpPr>
          <p:cNvPr id="1008" name="right"/>
          <p:cNvSpPr/>
          <p:nvPr/>
        </p:nvSpPr>
        <p:spPr>
          <a:xfrm>
            <a:off x="4820000" y="1000000"/>
            <a:ext cx="3800000" cy="30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9" name="output h"/>
          <p:cNvSpPr txBox="1"/>
          <p:nvPr/>
        </p:nvSpPr>
        <p:spPr>
          <a:xfrm>
            <a:off x="5060000" y="1250000"/>
            <a:ext cx="33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1D4ED8"/>
                </a:solidFill>
                <a:latin typeface="Noto Sans CJK KR"/>
                <a:ea typeface="Noto Sans CJK KR"/>
              </a:rPr>
              <a:t>출력값</a:t>
            </a:r>
            <a:endParaRPr lang="ko-KR" sz="2000"/>
          </a:p>
        </p:txBody>
      </p:sp>
      <p:sp>
        <p:nvSpPr>
          <p:cNvPr id="1010" name="output body"/>
          <p:cNvSpPr txBox="1"/>
          <p:nvPr/>
        </p:nvSpPr>
        <p:spPr>
          <a:xfrm>
            <a:off x="5060000" y="1650000"/>
            <a:ext cx="3200000" cy="1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미니 컨설팅 리포트</a:t>
            </a:r>
            <a:endParaRPr lang="ko-KR" sz="1500"/>
          </a:p>
          <a:p>
            <a:r>
              <a:rPr lang="ko-KR" sz="1500">
                <a:solidFill>
                  <a:srgbClr val="14213D"/>
                </a:solidFill>
                <a:latin typeface="Noto Sans CJK KR"/>
                <a:ea typeface="Noto Sans CJK KR"/>
              </a:rPr>
              <a:t>- 한 줄 결론</a:t>
            </a:r>
            <a:endParaRPr lang="ko-KR" sz="1500"/>
          </a:p>
          <a:p>
            <a:r>
              <a:rPr lang="ko-KR" sz="1500">
                <a:solidFill>
                  <a:srgbClr val="14213D"/>
                </a:solidFill>
                <a:latin typeface="Noto Sans CJK KR"/>
                <a:ea typeface="Noto Sans CJK KR"/>
              </a:rPr>
              <a:t>- 핵심 데이터 요약</a:t>
            </a:r>
            <a:endParaRPr lang="ko-KR" sz="1500"/>
          </a:p>
          <a:p>
            <a:r>
              <a:rPr lang="ko-KR" sz="1500">
                <a:solidFill>
                  <a:srgbClr val="14213D"/>
                </a:solidFill>
                <a:latin typeface="Noto Sans CJK KR"/>
                <a:ea typeface="Noto Sans CJK KR"/>
              </a:rPr>
              <a:t>- 추천 창업 아이템</a:t>
            </a:r>
            <a:endParaRPr lang="ko-KR" sz="1500"/>
          </a:p>
          <a:p>
            <a:r>
              <a:rPr lang="ko-KR" sz="1500">
                <a:solidFill>
                  <a:srgbClr val="14213D"/>
                </a:solidFill>
                <a:latin typeface="Noto Sans CJK KR"/>
                <a:ea typeface="Noto Sans CJK KR"/>
              </a:rPr>
              <a:t>- 리스크와 추가 확인사항</a:t>
            </a:r>
            <a:endParaRPr lang="ko-KR" sz="1500"/>
          </a:p>
        </p:txBody>
      </p:sp>
      <p:sp>
        <p:nvSpPr>
          <p:cNvPr id="1011" name="blank answer"/>
          <p:cNvSpPr/>
          <p:nvPr/>
        </p:nvSpPr>
        <p:spPr>
          <a:xfrm>
            <a:off x="5060000" y="3300000"/>
            <a:ext cx="3200000" cy="520000"/>
          </a:xfrm>
          <a:prstGeom prst="rect">
            <a:avLst/>
          </a:prstGeom>
          <a:solidFill>
            <a:srgbClr val="EEF2F7"/>
          </a:solidFill>
          <a:ln w="9000">
            <a:solidFill>
              <a:srgbClr val="D6DEE8"/>
            </a:solidFill>
          </a:ln>
        </p:spPr>
      </p:sp>
      <p:sp>
        <p:nvSpPr>
          <p:cNvPr id="1012" name="blank answer text"/>
          <p:cNvSpPr txBox="1"/>
          <p:nvPr/>
        </p:nvSpPr>
        <p:spPr>
          <a:xfrm>
            <a:off x="5200000" y="3440000"/>
            <a:ext cx="2900000" cy="1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실제 답변 예시 캡처/문구 삽입 영역</a:t>
            </a:r>
            <a:endParaRPr lang="ko-KR"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9" name="Google Shape;129;p19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30" name="Google Shape;130;p19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2" name="Google Shape;132;p19"/>
          <p:cNvSpPr txBox="1"/>
          <p:nvPr/>
        </p:nvSpPr>
        <p:spPr>
          <a:xfrm>
            <a:off x="270000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270000" y="1819375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82354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17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5061275" y="1440175"/>
            <a:ext cx="3681600" cy="277200"/>
          </a:xfrm>
          <a:prstGeom prst="rect">
            <a:avLst/>
          </a:prstGeom>
          <a:solidFill>
            <a:srgbClr val="0066FF"/>
          </a:solidFill>
          <a:ln>
            <a:noFill/>
          </a:ln>
        </p:spPr>
        <p:txBody>
          <a:bodyPr anchorCtr="0" anchor="ctr" bIns="36475" lIns="72975" spcFirstLastPara="1" rIns="72975" wrap="square" tIns="364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300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3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5061275" y="1819450"/>
            <a:ext cx="3681600" cy="3043200"/>
          </a:xfrm>
          <a:prstGeom prst="rect">
            <a:avLst/>
          </a:prstGeom>
          <a:solidFill>
            <a:srgbClr val="FFFFFF"/>
          </a:solidFill>
          <a:ln cap="flat" cmpd="sng" w="76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36475" lIns="72975" spcFirstLastPara="1" rIns="72975" wrap="square" tIns="36475">
            <a:noAutofit/>
          </a:bodyPr>
          <a:lstStyle/>
          <a:p>
            <a:pPr indent="-51947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Arial"/>
              <a:buNone/>
            </a:pPr>
            <a:r>
              <a:t/>
            </a:r>
            <a:endParaRPr b="1" sz="1277">
              <a:solidFill>
                <a:srgbClr val="3F3F3F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33034" lvl="0" marL="215388" marR="0" rtl="0" algn="l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1277"/>
              <a:buFont typeface="Noto Sans KR"/>
              <a:buChar char="•"/>
            </a:pPr>
            <a:r>
              <a:rPr b="1" lang="ko" sz="1277">
                <a:solidFill>
                  <a:srgbClr val="3F3F3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17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pSp>
        <p:nvGrpSpPr>
          <p:cNvPr id="136" name="Google Shape;136;p19"/>
          <p:cNvGrpSpPr/>
          <p:nvPr/>
        </p:nvGrpSpPr>
        <p:grpSpPr>
          <a:xfrm>
            <a:off x="3951396" y="2838330"/>
            <a:ext cx="1206727" cy="552107"/>
            <a:chOff x="5340068" y="3633028"/>
            <a:chExt cx="1512000" cy="691777"/>
          </a:xfrm>
        </p:grpSpPr>
        <p:sp>
          <p:nvSpPr>
            <p:cNvPr id="137" name="Google Shape;137;p19"/>
            <p:cNvSpPr/>
            <p:nvPr/>
          </p:nvSpPr>
          <p:spPr>
            <a:xfrm>
              <a:off x="5340068" y="3698398"/>
              <a:ext cx="1512000" cy="6063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rgbClr val="C5D8F1"/>
            </a:solidFill>
            <a:ln>
              <a:noFill/>
            </a:ln>
          </p:spPr>
          <p:txBody>
            <a:bodyPr anchorCtr="0" anchor="ctr" bIns="36475" lIns="72975" spcFirstLastPara="1" rIns="72975" wrap="square" tIns="364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37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8" name="Google Shape;138;p19"/>
            <p:cNvGrpSpPr/>
            <p:nvPr/>
          </p:nvGrpSpPr>
          <p:grpSpPr>
            <a:xfrm>
              <a:off x="5657982" y="3633028"/>
              <a:ext cx="693905" cy="691777"/>
              <a:chOff x="5549900" y="6350"/>
              <a:chExt cx="998425" cy="995363"/>
            </a:xfrm>
          </p:grpSpPr>
          <p:sp>
            <p:nvSpPr>
              <p:cNvPr id="139" name="Google Shape;139;p19"/>
              <p:cNvSpPr/>
              <p:nvPr/>
            </p:nvSpPr>
            <p:spPr>
              <a:xfrm>
                <a:off x="6122988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19"/>
              <p:cNvSpPr/>
              <p:nvPr/>
            </p:nvSpPr>
            <p:spPr>
              <a:xfrm>
                <a:off x="6210300" y="238125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19"/>
              <p:cNvSpPr/>
              <p:nvPr/>
            </p:nvSpPr>
            <p:spPr>
              <a:xfrm>
                <a:off x="6169025" y="131763"/>
                <a:ext cx="44450" cy="57150"/>
              </a:xfrm>
              <a:custGeom>
                <a:rect b="b" l="l" r="r" t="t"/>
                <a:pathLst>
                  <a:path extrusionOk="0" h="36" w="28">
                    <a:moveTo>
                      <a:pt x="0" y="0"/>
                    </a:moveTo>
                    <a:lnTo>
                      <a:pt x="0" y="19"/>
                    </a:lnTo>
                    <a:lnTo>
                      <a:pt x="9" y="19"/>
                    </a:lnTo>
                    <a:lnTo>
                      <a:pt x="9" y="36"/>
                    </a:lnTo>
                    <a:lnTo>
                      <a:pt x="28" y="36"/>
                    </a:lnTo>
                    <a:lnTo>
                      <a:pt x="28" y="17"/>
                    </a:lnTo>
                    <a:lnTo>
                      <a:pt x="19" y="17"/>
                    </a:lnTo>
                    <a:lnTo>
                      <a:pt x="1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19"/>
              <p:cNvSpPr/>
              <p:nvPr/>
            </p:nvSpPr>
            <p:spPr>
              <a:xfrm>
                <a:off x="6316663" y="230188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19"/>
              <p:cNvSpPr/>
              <p:nvPr/>
            </p:nvSpPr>
            <p:spPr>
              <a:xfrm>
                <a:off x="6138863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19"/>
              <p:cNvSpPr/>
              <p:nvPr/>
            </p:nvSpPr>
            <p:spPr>
              <a:xfrm>
                <a:off x="6213475" y="708025"/>
                <a:ext cx="30300" cy="3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19"/>
              <p:cNvSpPr/>
              <p:nvPr/>
            </p:nvSpPr>
            <p:spPr>
              <a:xfrm>
                <a:off x="6175375" y="792163"/>
                <a:ext cx="46038" cy="60325"/>
              </a:xfrm>
              <a:custGeom>
                <a:rect b="b" l="l" r="r" t="t"/>
                <a:pathLst>
                  <a:path extrusionOk="0" h="38" w="29">
                    <a:moveTo>
                      <a:pt x="20" y="19"/>
                    </a:moveTo>
                    <a:lnTo>
                      <a:pt x="29" y="19"/>
                    </a:lnTo>
                    <a:lnTo>
                      <a:pt x="29" y="0"/>
                    </a:lnTo>
                    <a:lnTo>
                      <a:pt x="10" y="0"/>
                    </a:lnTo>
                    <a:lnTo>
                      <a:pt x="10" y="19"/>
                    </a:lnTo>
                    <a:lnTo>
                      <a:pt x="0" y="19"/>
                    </a:lnTo>
                    <a:lnTo>
                      <a:pt x="0" y="38"/>
                    </a:lnTo>
                    <a:lnTo>
                      <a:pt x="20" y="38"/>
                    </a:lnTo>
                    <a:lnTo>
                      <a:pt x="20" y="19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19"/>
              <p:cNvSpPr/>
              <p:nvPr/>
            </p:nvSpPr>
            <p:spPr>
              <a:xfrm>
                <a:off x="6327775" y="701675"/>
                <a:ext cx="45900" cy="44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19"/>
              <p:cNvSpPr/>
              <p:nvPr/>
            </p:nvSpPr>
            <p:spPr>
              <a:xfrm>
                <a:off x="6169025" y="488950"/>
                <a:ext cx="30300" cy="3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19"/>
              <p:cNvSpPr/>
              <p:nvPr/>
            </p:nvSpPr>
            <p:spPr>
              <a:xfrm>
                <a:off x="6243638" y="360363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19"/>
              <p:cNvSpPr/>
              <p:nvPr/>
            </p:nvSpPr>
            <p:spPr>
              <a:xfrm>
                <a:off x="6243638" y="587375"/>
                <a:ext cx="42900" cy="414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19"/>
              <p:cNvSpPr/>
              <p:nvPr/>
            </p:nvSpPr>
            <p:spPr>
              <a:xfrm>
                <a:off x="6281738" y="481013"/>
                <a:ext cx="45900" cy="459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19"/>
              <p:cNvSpPr/>
              <p:nvPr/>
            </p:nvSpPr>
            <p:spPr>
              <a:xfrm>
                <a:off x="6380163" y="477838"/>
                <a:ext cx="57300" cy="525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19"/>
              <p:cNvSpPr/>
              <p:nvPr/>
            </p:nvSpPr>
            <p:spPr>
              <a:xfrm>
                <a:off x="6319838" y="11271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19"/>
              <p:cNvSpPr/>
              <p:nvPr/>
            </p:nvSpPr>
            <p:spPr>
              <a:xfrm>
                <a:off x="6450013" y="279400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19"/>
              <p:cNvSpPr/>
              <p:nvPr/>
            </p:nvSpPr>
            <p:spPr>
              <a:xfrm>
                <a:off x="5549900" y="6350"/>
                <a:ext cx="679450" cy="995363"/>
              </a:xfrm>
              <a:custGeom>
                <a:rect b="b" l="l" r="r" t="t"/>
                <a:pathLst>
                  <a:path extrusionOk="0" h="262" w="179">
                    <a:moveTo>
                      <a:pt x="163" y="242"/>
                    </a:moveTo>
                    <a:cubicBezTo>
                      <a:pt x="147" y="242"/>
                      <a:pt x="147" y="242"/>
                      <a:pt x="147" y="242"/>
                    </a:cubicBezTo>
                    <a:cubicBezTo>
                      <a:pt x="147" y="246"/>
                      <a:pt x="147" y="246"/>
                      <a:pt x="147" y="246"/>
                    </a:cubicBezTo>
                    <a:cubicBezTo>
                      <a:pt x="131" y="246"/>
                      <a:pt x="131" y="246"/>
                      <a:pt x="131" y="246"/>
                    </a:cubicBezTo>
                    <a:cubicBezTo>
                      <a:pt x="101" y="246"/>
                      <a:pt x="72" y="234"/>
                      <a:pt x="50" y="213"/>
                    </a:cubicBezTo>
                    <a:cubicBezTo>
                      <a:pt x="28" y="191"/>
                      <a:pt x="16" y="162"/>
                      <a:pt x="16" y="131"/>
                    </a:cubicBezTo>
                    <a:cubicBezTo>
                      <a:pt x="16" y="100"/>
                      <a:pt x="28" y="71"/>
                      <a:pt x="50" y="50"/>
                    </a:cubicBezTo>
                    <a:cubicBezTo>
                      <a:pt x="72" y="28"/>
                      <a:pt x="101" y="16"/>
                      <a:pt x="131" y="16"/>
                    </a:cubicBezTo>
                    <a:cubicBezTo>
                      <a:pt x="147" y="16"/>
                      <a:pt x="147" y="16"/>
                      <a:pt x="147" y="16"/>
                    </a:cubicBezTo>
                    <a:cubicBezTo>
                      <a:pt x="147" y="20"/>
                      <a:pt x="147" y="20"/>
                      <a:pt x="147" y="20"/>
                    </a:cubicBezTo>
                    <a:cubicBezTo>
                      <a:pt x="163" y="20"/>
                      <a:pt x="163" y="20"/>
                      <a:pt x="163" y="20"/>
                    </a:cubicBezTo>
                    <a:cubicBezTo>
                      <a:pt x="163" y="24"/>
                      <a:pt x="163" y="24"/>
                      <a:pt x="163" y="24"/>
                    </a:cubicBezTo>
                    <a:cubicBezTo>
                      <a:pt x="179" y="24"/>
                      <a:pt x="179" y="24"/>
                      <a:pt x="179" y="24"/>
                    </a:cubicBezTo>
                    <a:cubicBezTo>
                      <a:pt x="179" y="8"/>
                      <a:pt x="179" y="8"/>
                      <a:pt x="179" y="8"/>
                    </a:cubicBezTo>
                    <a:cubicBezTo>
                      <a:pt x="163" y="8"/>
                      <a:pt x="163" y="8"/>
                      <a:pt x="163" y="8"/>
                    </a:cubicBezTo>
                    <a:cubicBezTo>
                      <a:pt x="163" y="4"/>
                      <a:pt x="163" y="4"/>
                      <a:pt x="163" y="4"/>
                    </a:cubicBezTo>
                    <a:cubicBezTo>
                      <a:pt x="147" y="4"/>
                      <a:pt x="147" y="4"/>
                      <a:pt x="147" y="4"/>
                    </a:cubicBezTo>
                    <a:cubicBezTo>
                      <a:pt x="147" y="0"/>
                      <a:pt x="147" y="0"/>
                      <a:pt x="147" y="0"/>
                    </a:cubicBezTo>
                    <a:cubicBezTo>
                      <a:pt x="131" y="0"/>
                      <a:pt x="131" y="0"/>
                      <a:pt x="131" y="0"/>
                    </a:cubicBezTo>
                    <a:cubicBezTo>
                      <a:pt x="59" y="0"/>
                      <a:pt x="0" y="59"/>
                      <a:pt x="0" y="131"/>
                    </a:cubicBezTo>
                    <a:cubicBezTo>
                      <a:pt x="0" y="204"/>
                      <a:pt x="59" y="262"/>
                      <a:pt x="131" y="262"/>
                    </a:cubicBezTo>
                    <a:cubicBezTo>
                      <a:pt x="147" y="262"/>
                      <a:pt x="147" y="262"/>
                      <a:pt x="147" y="262"/>
                    </a:cubicBezTo>
                    <a:cubicBezTo>
                      <a:pt x="147" y="258"/>
                      <a:pt x="147" y="258"/>
                      <a:pt x="147" y="258"/>
                    </a:cubicBezTo>
                    <a:cubicBezTo>
                      <a:pt x="163" y="258"/>
                      <a:pt x="163" y="258"/>
                      <a:pt x="163" y="258"/>
                    </a:cubicBezTo>
                    <a:cubicBezTo>
                      <a:pt x="163" y="254"/>
                      <a:pt x="163" y="254"/>
                      <a:pt x="163" y="254"/>
                    </a:cubicBezTo>
                    <a:cubicBezTo>
                      <a:pt x="179" y="254"/>
                      <a:pt x="179" y="254"/>
                      <a:pt x="179" y="254"/>
                    </a:cubicBezTo>
                    <a:cubicBezTo>
                      <a:pt x="179" y="238"/>
                      <a:pt x="179" y="238"/>
                      <a:pt x="179" y="238"/>
                    </a:cubicBezTo>
                    <a:cubicBezTo>
                      <a:pt x="163" y="238"/>
                      <a:pt x="163" y="238"/>
                      <a:pt x="163" y="238"/>
                    </a:cubicBezTo>
                    <a:lnTo>
                      <a:pt x="163" y="242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19"/>
              <p:cNvSpPr/>
              <p:nvPr/>
            </p:nvSpPr>
            <p:spPr>
              <a:xfrm>
                <a:off x="6319838" y="833438"/>
                <a:ext cx="603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19"/>
              <p:cNvSpPr/>
              <p:nvPr/>
            </p:nvSpPr>
            <p:spPr>
              <a:xfrm>
                <a:off x="6450013" y="652463"/>
                <a:ext cx="60300" cy="603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19"/>
              <p:cNvSpPr/>
              <p:nvPr/>
            </p:nvSpPr>
            <p:spPr>
              <a:xfrm>
                <a:off x="6486525" y="473075"/>
                <a:ext cx="61800" cy="61800"/>
              </a:xfrm>
              <a:prstGeom prst="rect">
                <a:avLst/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19"/>
              <p:cNvSpPr/>
              <p:nvPr/>
            </p:nvSpPr>
            <p:spPr>
              <a:xfrm>
                <a:off x="5667375" y="123825"/>
                <a:ext cx="455613" cy="758825"/>
              </a:xfrm>
              <a:custGeom>
                <a:rect b="b" l="l" r="r" t="t"/>
                <a:pathLst>
                  <a:path extrusionOk="0" h="200" w="120">
                    <a:moveTo>
                      <a:pt x="120" y="104"/>
                    </a:moveTo>
                    <a:cubicBezTo>
                      <a:pt x="120" y="96"/>
                      <a:pt x="120" y="96"/>
                      <a:pt x="120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96"/>
                      <a:pt x="104" y="96"/>
                      <a:pt x="104" y="96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04" y="38"/>
                      <a:pt x="104" y="38"/>
                      <a:pt x="104" y="38"/>
                    </a:cubicBezTo>
                    <a:cubicBezTo>
                      <a:pt x="112" y="38"/>
                      <a:pt x="112" y="38"/>
                      <a:pt x="112" y="38"/>
                    </a:cubicBezTo>
                    <a:cubicBezTo>
                      <a:pt x="112" y="30"/>
                      <a:pt x="112" y="30"/>
                      <a:pt x="112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30"/>
                      <a:pt x="104" y="30"/>
                      <a:pt x="104" y="30"/>
                    </a:cubicBezTo>
                    <a:cubicBezTo>
                      <a:pt x="104" y="0"/>
                      <a:pt x="104" y="0"/>
                      <a:pt x="104" y="0"/>
                    </a:cubicBezTo>
                    <a:cubicBezTo>
                      <a:pt x="103" y="0"/>
                      <a:pt x="102" y="0"/>
                      <a:pt x="100" y="0"/>
                    </a:cubicBezTo>
                    <a:cubicBezTo>
                      <a:pt x="99" y="0"/>
                      <a:pt x="98" y="0"/>
                      <a:pt x="96" y="0"/>
                    </a:cubicBezTo>
                    <a:cubicBezTo>
                      <a:pt x="96" y="30"/>
                      <a:pt x="96" y="30"/>
                      <a:pt x="96" y="30"/>
                    </a:cubicBezTo>
                    <a:cubicBezTo>
                      <a:pt x="59" y="30"/>
                      <a:pt x="59" y="30"/>
                      <a:pt x="59" y="30"/>
                    </a:cubicBezTo>
                    <a:cubicBezTo>
                      <a:pt x="63" y="20"/>
                      <a:pt x="66" y="12"/>
                      <a:pt x="71" y="5"/>
                    </a:cubicBezTo>
                    <a:cubicBezTo>
                      <a:pt x="67" y="6"/>
                      <a:pt x="63" y="7"/>
                      <a:pt x="59" y="9"/>
                    </a:cubicBezTo>
                    <a:cubicBezTo>
                      <a:pt x="56" y="15"/>
                      <a:pt x="53" y="23"/>
                      <a:pt x="51" y="30"/>
                    </a:cubicBezTo>
                    <a:cubicBezTo>
                      <a:pt x="29" y="30"/>
                      <a:pt x="29" y="30"/>
                      <a:pt x="29" y="30"/>
                    </a:cubicBezTo>
                    <a:cubicBezTo>
                      <a:pt x="26" y="33"/>
                      <a:pt x="24" y="35"/>
                      <a:pt x="22" y="38"/>
                    </a:cubicBezTo>
                    <a:cubicBezTo>
                      <a:pt x="49" y="38"/>
                      <a:pt x="49" y="38"/>
                      <a:pt x="49" y="38"/>
                    </a:cubicBezTo>
                    <a:cubicBezTo>
                      <a:pt x="44" y="56"/>
                      <a:pt x="41" y="76"/>
                      <a:pt x="41" y="96"/>
                    </a:cubicBezTo>
                    <a:cubicBezTo>
                      <a:pt x="0" y="96"/>
                      <a:pt x="0" y="96"/>
                      <a:pt x="0" y="96"/>
                    </a:cubicBezTo>
                    <a:cubicBezTo>
                      <a:pt x="0" y="98"/>
                      <a:pt x="0" y="99"/>
                      <a:pt x="0" y="100"/>
                    </a:cubicBezTo>
                    <a:cubicBezTo>
                      <a:pt x="0" y="102"/>
                      <a:pt x="0" y="103"/>
                      <a:pt x="0" y="104"/>
                    </a:cubicBezTo>
                    <a:cubicBezTo>
                      <a:pt x="41" y="104"/>
                      <a:pt x="41" y="104"/>
                      <a:pt x="41" y="104"/>
                    </a:cubicBezTo>
                    <a:cubicBezTo>
                      <a:pt x="41" y="122"/>
                      <a:pt x="43" y="138"/>
                      <a:pt x="47" y="154"/>
                    </a:cubicBezTo>
                    <a:cubicBezTo>
                      <a:pt x="16" y="154"/>
                      <a:pt x="16" y="154"/>
                      <a:pt x="16" y="154"/>
                    </a:cubicBezTo>
                    <a:cubicBezTo>
                      <a:pt x="17" y="156"/>
                      <a:pt x="19" y="159"/>
                      <a:pt x="21" y="162"/>
                    </a:cubicBezTo>
                    <a:cubicBezTo>
                      <a:pt x="48" y="162"/>
                      <a:pt x="48" y="162"/>
                      <a:pt x="48" y="162"/>
                    </a:cubicBezTo>
                    <a:cubicBezTo>
                      <a:pt x="51" y="173"/>
                      <a:pt x="55" y="183"/>
                      <a:pt x="59" y="191"/>
                    </a:cubicBezTo>
                    <a:cubicBezTo>
                      <a:pt x="63" y="193"/>
                      <a:pt x="67" y="195"/>
                      <a:pt x="71" y="196"/>
                    </a:cubicBezTo>
                    <a:cubicBezTo>
                      <a:pt x="65" y="187"/>
                      <a:pt x="60" y="175"/>
                      <a:pt x="57" y="162"/>
                    </a:cubicBezTo>
                    <a:cubicBezTo>
                      <a:pt x="96" y="162"/>
                      <a:pt x="96" y="162"/>
                      <a:pt x="96" y="162"/>
                    </a:cubicBezTo>
                    <a:cubicBezTo>
                      <a:pt x="96" y="200"/>
                      <a:pt x="96" y="200"/>
                      <a:pt x="96" y="200"/>
                    </a:cubicBezTo>
                    <a:cubicBezTo>
                      <a:pt x="98" y="200"/>
                      <a:pt x="99" y="200"/>
                      <a:pt x="100" y="200"/>
                    </a:cubicBezTo>
                    <a:cubicBezTo>
                      <a:pt x="102" y="200"/>
                      <a:pt x="103" y="200"/>
                      <a:pt x="104" y="200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04" y="162"/>
                      <a:pt x="104" y="162"/>
                      <a:pt x="104" y="162"/>
                    </a:cubicBezTo>
                    <a:cubicBezTo>
                      <a:pt x="112" y="162"/>
                      <a:pt x="112" y="162"/>
                      <a:pt x="112" y="162"/>
                    </a:cubicBezTo>
                    <a:cubicBezTo>
                      <a:pt x="112" y="154"/>
                      <a:pt x="112" y="154"/>
                      <a:pt x="112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54"/>
                      <a:pt x="104" y="154"/>
                      <a:pt x="104" y="15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cubicBezTo>
                      <a:pt x="104" y="104"/>
                      <a:pt x="104" y="104"/>
                      <a:pt x="104" y="104"/>
                    </a:cubicBezTo>
                    <a:lnTo>
                      <a:pt x="120" y="104"/>
                    </a:lnTo>
                    <a:close/>
                    <a:moveTo>
                      <a:pt x="96" y="154"/>
                    </a:moveTo>
                    <a:cubicBezTo>
                      <a:pt x="55" y="154"/>
                      <a:pt x="55" y="154"/>
                      <a:pt x="55" y="154"/>
                    </a:cubicBezTo>
                    <a:cubicBezTo>
                      <a:pt x="51" y="139"/>
                      <a:pt x="49" y="122"/>
                      <a:pt x="49" y="104"/>
                    </a:cubicBezTo>
                    <a:cubicBezTo>
                      <a:pt x="96" y="104"/>
                      <a:pt x="96" y="104"/>
                      <a:pt x="96" y="104"/>
                    </a:cubicBezTo>
                    <a:lnTo>
                      <a:pt x="96" y="154"/>
                    </a:lnTo>
                    <a:close/>
                    <a:moveTo>
                      <a:pt x="96" y="96"/>
                    </a:moveTo>
                    <a:cubicBezTo>
                      <a:pt x="49" y="96"/>
                      <a:pt x="49" y="96"/>
                      <a:pt x="49" y="96"/>
                    </a:cubicBezTo>
                    <a:cubicBezTo>
                      <a:pt x="49" y="75"/>
                      <a:pt x="52" y="55"/>
                      <a:pt x="57" y="38"/>
                    </a:cubicBezTo>
                    <a:cubicBezTo>
                      <a:pt x="96" y="38"/>
                      <a:pt x="96" y="38"/>
                      <a:pt x="96" y="38"/>
                    </a:cubicBezTo>
                    <a:lnTo>
                      <a:pt x="96" y="96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t" bIns="36475" lIns="72975" spcFirstLastPara="1" rIns="72975" wrap="square" tIns="36475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37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9" name="Google Shape;159;p19"/>
          <p:cNvSpPr/>
          <p:nvPr/>
        </p:nvSpPr>
        <p:spPr>
          <a:xfrm>
            <a:off x="21400" y="2076225"/>
            <a:ext cx="9144000" cy="116640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>
                <a:solidFill>
                  <a:schemeClr val="lt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>
              <a:solidFill>
                <a:schemeClr val="lt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accent bar"/>
          <p:cNvSpPr/>
          <p:nvPr/>
        </p:nvSpPr>
        <p:spPr>
          <a:xfrm>
            <a:off x="270000" y="225000"/>
            <a:ext cx="90000" cy="3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2" name="title"/>
          <p:cNvSpPr txBox="1"/>
          <p:nvPr/>
        </p:nvSpPr>
        <p:spPr>
          <a:xfrm>
            <a:off x="420000" y="23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14213D"/>
                </a:solidFill>
                <a:latin typeface="Noto Sans CJK KR"/>
                <a:ea typeface="Noto Sans CJK KR"/>
              </a:rPr>
              <a:t>서비스 입력·출력</a:t>
            </a:r>
            <a:endParaRPr lang="ko-KR" sz="2000"/>
          </a:p>
        </p:txBody>
      </p:sp>
      <p:sp>
        <p:nvSpPr>
          <p:cNvPr id="1003" name="kicker"/>
          <p:cNvSpPr txBox="1"/>
          <p:nvPr/>
        </p:nvSpPr>
        <p:spPr>
          <a:xfrm>
            <a:off x="7350000" y="245000"/>
            <a:ext cx="1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1000">
                <a:solidFill>
                  <a:srgbClr val="4B5563"/>
                </a:solidFill>
                <a:latin typeface="Noto Sans CJK KR"/>
                <a:ea typeface="Noto Sans CJK KR"/>
              </a:rPr>
              <a:t>가변 조건 처리</a:t>
            </a:r>
            <a:endParaRPr lang="ko-KR" sz="1000"/>
          </a:p>
        </p:txBody>
      </p:sp>
      <p:sp>
        <p:nvSpPr>
          <p:cNvPr id="1004" name="card"/>
          <p:cNvSpPr/>
          <p:nvPr/>
        </p:nvSpPr>
        <p:spPr>
          <a:xfrm>
            <a:off x="520000" y="960000"/>
            <a:ext cx="3800000" cy="30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5" name="card accent"/>
          <p:cNvSpPr/>
          <p:nvPr/>
        </p:nvSpPr>
        <p:spPr>
          <a:xfrm>
            <a:off x="520000" y="960000"/>
            <a:ext cx="70000" cy="30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6" name="card title"/>
          <p:cNvSpPr txBox="1"/>
          <p:nvPr/>
        </p:nvSpPr>
        <p:spPr>
          <a:xfrm>
            <a:off x="680000" y="1090000"/>
            <a:ext cx="35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가변 입력</a:t>
            </a:r>
            <a:endParaRPr lang="ko-KR" sz="1500"/>
          </a:p>
        </p:txBody>
      </p:sp>
      <p:sp>
        <p:nvSpPr>
          <p:cNvPr id="1007" name="card body"/>
          <p:cNvSpPr txBox="1"/>
          <p:nvPr/>
        </p:nvSpPr>
        <p:spPr>
          <a:xfrm>
            <a:off x="680000" y="1470000"/>
            <a:ext cx="3550000" cy="23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지역명: 제주, 강릉, 해운대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관광지명: 전주 한옥마을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관심 업종: 디저트, 카페, 웰니스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고객 유형: 가족 관광객, 웰니스 관광객</a:t>
            </a:r>
            <a:endParaRPr lang="ko-KR" sz="1200"/>
          </a:p>
          <a:p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예시: 제주에서 웰니스 관광객 대상으로 할 만한 창업 아이템 추천해줘.</a:t>
            </a:r>
            <a:endParaRPr lang="ko-KR" sz="1200"/>
          </a:p>
        </p:txBody>
      </p:sp>
      <p:sp>
        <p:nvSpPr>
          <p:cNvPr id="1008" name="card"/>
          <p:cNvSpPr/>
          <p:nvPr/>
        </p:nvSpPr>
        <p:spPr>
          <a:xfrm>
            <a:off x="4820000" y="960000"/>
            <a:ext cx="3800000" cy="30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9" name="card accent"/>
          <p:cNvSpPr/>
          <p:nvPr/>
        </p:nvSpPr>
        <p:spPr>
          <a:xfrm>
            <a:off x="4820000" y="960000"/>
            <a:ext cx="70000" cy="3000000"/>
          </a:xfrm>
          <a:prstGeom prst="rect">
            <a:avLst/>
          </a:prstGeom>
          <a:solidFill>
            <a:srgbClr val="1D4ED8"/>
          </a:solidFill>
          <a:ln w="9000">
            <a:solidFill>
              <a:srgbClr val="1D4ED8"/>
            </a:solidFill>
          </a:ln>
        </p:spPr>
      </p:sp>
      <p:sp>
        <p:nvSpPr>
          <p:cNvPr id="1010" name="card title"/>
          <p:cNvSpPr txBox="1"/>
          <p:nvPr/>
        </p:nvSpPr>
        <p:spPr>
          <a:xfrm>
            <a:off x="4980000" y="1090000"/>
            <a:ext cx="35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처리 결과</a:t>
            </a:r>
            <a:endParaRPr lang="ko-KR" sz="1500"/>
          </a:p>
        </p:txBody>
      </p:sp>
      <p:sp>
        <p:nvSpPr>
          <p:cNvPr id="1011" name="card body"/>
          <p:cNvSpPr txBox="1"/>
          <p:nvPr/>
        </p:nvSpPr>
        <p:spPr>
          <a:xfrm>
            <a:off x="4980000" y="1470000"/>
            <a:ext cx="3550000" cy="23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관광지명은 국문 관광정보 서비스로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주소와 좌표를 확인합니다.</a:t>
            </a:r>
            <a:endParaRPr lang="ko-KR" sz="1200"/>
          </a:p>
          <a:p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지역 코드로 변환한 뒤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방문자, 수요, 자원, 동선, 웰니스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데이터를 조합합니다.</a:t>
            </a:r>
            <a:endParaRPr lang="ko-KR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20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5" name="Google Shape;165;p20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66" name="Google Shape;166;p20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67" name="Google Shape;167;p20"/>
          <p:cNvSpPr/>
          <p:nvPr/>
        </p:nvSpPr>
        <p:spPr>
          <a:xfrm>
            <a:off x="236425" y="1345875"/>
            <a:ext cx="8528700" cy="3427200"/>
          </a:xfrm>
          <a:prstGeom prst="roundRect">
            <a:avLst>
              <a:gd fmla="val 5248" name="adj"/>
            </a:avLst>
          </a:prstGeom>
          <a:solidFill>
            <a:srgbClr val="D6E9F7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accent bar"/>
          <p:cNvSpPr/>
          <p:nvPr/>
        </p:nvSpPr>
        <p:spPr>
          <a:xfrm>
            <a:off x="270000" y="225000"/>
            <a:ext cx="90000" cy="3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2" name="title"/>
          <p:cNvSpPr txBox="1"/>
          <p:nvPr/>
        </p:nvSpPr>
        <p:spPr>
          <a:xfrm>
            <a:off x="420000" y="23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14213D"/>
                </a:solidFill>
                <a:latin typeface="Noto Sans CJK KR"/>
                <a:ea typeface="Noto Sans CJK KR"/>
              </a:rPr>
              <a:t>서비스 시연</a:t>
            </a:r>
            <a:endParaRPr lang="ko-KR" sz="2000"/>
          </a:p>
        </p:txBody>
      </p:sp>
      <p:sp>
        <p:nvSpPr>
          <p:cNvPr id="1003" name="kicker"/>
          <p:cNvSpPr txBox="1"/>
          <p:nvPr/>
        </p:nvSpPr>
        <p:spPr>
          <a:xfrm>
            <a:off x="7350000" y="245000"/>
            <a:ext cx="1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1000">
                <a:solidFill>
                  <a:srgbClr val="4B5563"/>
                </a:solidFill>
                <a:latin typeface="Noto Sans CJK KR"/>
                <a:ea typeface="Noto Sans CJK KR"/>
              </a:rPr>
              <a:t>엔노이아 앱</a:t>
            </a:r>
            <a:endParaRPr lang="ko-KR" sz="1000"/>
          </a:p>
        </p:txBody>
      </p:sp>
      <p:sp>
        <p:nvSpPr>
          <p:cNvPr id="1004" name="capture box"/>
          <p:cNvSpPr/>
          <p:nvPr/>
        </p:nvSpPr>
        <p:spPr>
          <a:xfrm>
            <a:off x="650000" y="980000"/>
            <a:ext cx="7900000" cy="3000000"/>
          </a:xfrm>
          <a:prstGeom prst="rect">
            <a:avLst/>
          </a:prstGeom>
          <a:solidFill>
            <a:srgbClr val="EEF2F7"/>
          </a:solidFill>
          <a:ln w="9000">
            <a:solidFill>
              <a:srgbClr val="D6DEE8"/>
            </a:solidFill>
          </a:ln>
        </p:spPr>
      </p:sp>
      <p:sp>
        <p:nvSpPr>
          <p:cNvPr id="1005" name="capture title"/>
          <p:cNvSpPr txBox="1"/>
          <p:nvPr/>
        </p:nvSpPr>
        <p:spPr>
          <a:xfrm>
            <a:off x="900000" y="1350000"/>
            <a:ext cx="7400000" cy="3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2200" b="1">
                <a:solidFill>
                  <a:srgbClr val="4B5563"/>
                </a:solidFill>
                <a:latin typeface="Noto Sans CJK KR"/>
                <a:ea typeface="Noto Sans CJK KR"/>
              </a:rPr>
              <a:t>엔노이아 Studio 앱 화면 캡처 삽입 영역</a:t>
            </a:r>
            <a:endParaRPr lang="ko-KR" sz="2200"/>
          </a:p>
        </p:txBody>
      </p:sp>
      <p:sp>
        <p:nvSpPr>
          <p:cNvPr id="1006" name="capture desc"/>
          <p:cNvSpPr txBox="1"/>
          <p:nvPr/>
        </p:nvSpPr>
        <p:spPr>
          <a:xfrm>
            <a:off x="1000000" y="1900000"/>
            <a:ext cx="7200000" cy="9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600">
                <a:solidFill>
                  <a:srgbClr val="4B5563"/>
                </a:solidFill>
                <a:latin typeface="Noto Sans CJK KR"/>
                <a:ea typeface="Noto Sans CJK KR"/>
              </a:rPr>
              <a:t>나중에 실제 화면으로 교체</a:t>
            </a:r>
            <a:endParaRPr lang="ko-KR" sz="1600"/>
          </a:p>
          <a:p>
            <a:pPr algn="ctr"/>
            <a:r>
              <a:rPr lang="ko-KR" sz="1600">
                <a:solidFill>
                  <a:srgbClr val="4B5563"/>
                </a:solidFill>
                <a:latin typeface="Noto Sans CJK KR"/>
                <a:ea typeface="Noto Sans CJK KR"/>
              </a:rPr>
              <a:t>1. 질문 입력 화면</a:t>
            </a:r>
            <a:endParaRPr lang="ko-KR" sz="1600"/>
          </a:p>
          <a:p>
            <a:pPr algn="ctr"/>
            <a:r>
              <a:rPr lang="ko-KR" sz="1600">
                <a:solidFill>
                  <a:srgbClr val="4B5563"/>
                </a:solidFill>
                <a:latin typeface="Noto Sans CJK KR"/>
                <a:ea typeface="Noto Sans CJK KR"/>
              </a:rPr>
              <a:t>2. API 기반 답변 출력 화면</a:t>
            </a:r>
            <a:endParaRPr lang="ko-KR" sz="1600"/>
          </a:p>
          <a:p>
            <a:pPr algn="ctr"/>
            <a:r>
              <a:rPr lang="ko-KR" sz="1600">
                <a:solidFill>
                  <a:srgbClr val="4B5563"/>
                </a:solidFill>
                <a:latin typeface="Noto Sans CJK KR"/>
                <a:ea typeface="Noto Sans CJK KR"/>
              </a:rPr>
              <a:t>3. 공유 URL 접속 확인 화면</a:t>
            </a:r>
            <a:endParaRPr lang="ko-KR" sz="1600"/>
          </a:p>
        </p:txBody>
      </p:sp>
      <p:sp>
        <p:nvSpPr>
          <p:cNvPr id="1007" name="demo q"/>
          <p:cNvSpPr txBox="1"/>
          <p:nvPr/>
        </p:nvSpPr>
        <p:spPr>
          <a:xfrm>
            <a:off x="800000" y="4200000"/>
            <a:ext cx="7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300" b="1">
                <a:solidFill>
                  <a:srgbClr val="14213D"/>
                </a:solidFill>
                <a:latin typeface="Noto Sans CJK KR"/>
                <a:ea typeface="Noto Sans CJK KR"/>
              </a:rPr>
              <a:t>추천 시연 질문: 전주 한옥마을 근처에서 디저트 가게를 하면 괜찮을까?</a:t>
            </a:r>
            <a:endParaRPr lang="ko-KR" sz="1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2" name="Google Shape;172;p21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1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74" name="Google Shape;174;p21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75" name="Google Shape;175;p21"/>
          <p:cNvSpPr/>
          <p:nvPr/>
        </p:nvSpPr>
        <p:spPr>
          <a:xfrm>
            <a:off x="236425" y="1345875"/>
            <a:ext cx="8528700" cy="3427200"/>
          </a:xfrm>
          <a:prstGeom prst="roundRect">
            <a:avLst>
              <a:gd fmla="val 5248" name="adj"/>
            </a:avLst>
          </a:prstGeom>
          <a:solidFill>
            <a:srgbClr val="D6E9F7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accent bar"/>
          <p:cNvSpPr/>
          <p:nvPr/>
        </p:nvSpPr>
        <p:spPr>
          <a:xfrm>
            <a:off x="270000" y="225000"/>
            <a:ext cx="90000" cy="3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2" name="title"/>
          <p:cNvSpPr txBox="1"/>
          <p:nvPr/>
        </p:nvSpPr>
        <p:spPr>
          <a:xfrm>
            <a:off x="420000" y="23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14213D"/>
                </a:solidFill>
                <a:latin typeface="Noto Sans CJK KR"/>
                <a:ea typeface="Noto Sans CJK KR"/>
              </a:rPr>
              <a:t>서비스 시연</a:t>
            </a:r>
            <a:endParaRPr lang="ko-KR" sz="2000"/>
          </a:p>
        </p:txBody>
      </p:sp>
      <p:sp>
        <p:nvSpPr>
          <p:cNvPr id="1003" name="kicker"/>
          <p:cNvSpPr txBox="1"/>
          <p:nvPr/>
        </p:nvSpPr>
        <p:spPr>
          <a:xfrm>
            <a:off x="7350000" y="245000"/>
            <a:ext cx="1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1000">
                <a:solidFill>
                  <a:srgbClr val="4B5563"/>
                </a:solidFill>
                <a:latin typeface="Noto Sans CJK KR"/>
                <a:ea typeface="Noto Sans CJK KR"/>
              </a:rPr>
              <a:t>Flow Chart</a:t>
            </a:r>
            <a:endParaRPr lang="ko-KR" sz="1000"/>
          </a:p>
        </p:txBody>
      </p:sp>
      <p:sp>
        <p:nvSpPr>
          <p:cNvPr id="1004" name="step"/>
          <p:cNvSpPr/>
          <p:nvPr/>
        </p:nvSpPr>
        <p:spPr>
          <a:xfrm>
            <a:off x="520000" y="1150000"/>
            <a:ext cx="2500000" cy="85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5" name="num"/>
          <p:cNvSpPr/>
          <p:nvPr/>
        </p:nvSpPr>
        <p:spPr>
          <a:xfrm>
            <a:off x="670000" y="1310000"/>
            <a:ext cx="360000" cy="36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6" name="num text"/>
          <p:cNvSpPr txBox="1"/>
          <p:nvPr/>
        </p:nvSpPr>
        <p:spPr>
          <a:xfrm>
            <a:off x="670000" y="1375000"/>
            <a:ext cx="3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Noto Sans CJK KR"/>
                <a:ea typeface="Noto Sans CJK KR"/>
              </a:rPr>
              <a:t>1</a:t>
            </a:r>
            <a:endParaRPr lang="ko-KR" sz="1400"/>
          </a:p>
        </p:txBody>
      </p:sp>
      <p:sp>
        <p:nvSpPr>
          <p:cNvPr id="1007" name="step title"/>
          <p:cNvSpPr txBox="1"/>
          <p:nvPr/>
        </p:nvSpPr>
        <p:spPr>
          <a:xfrm>
            <a:off x="1150000" y="1300000"/>
            <a:ext cx="174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질문 입력</a:t>
            </a:r>
            <a:endParaRPr lang="ko-KR" sz="1500"/>
          </a:p>
        </p:txBody>
      </p:sp>
      <p:sp>
        <p:nvSpPr>
          <p:cNvPr id="1008" name="step body"/>
          <p:cNvSpPr txBox="1"/>
          <p:nvPr/>
        </p:nvSpPr>
        <p:spPr>
          <a:xfrm>
            <a:off x="1150000" y="1590000"/>
            <a:ext cx="174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지역·업종·의도</a:t>
            </a:r>
            <a:endParaRPr lang="ko-KR" sz="1200"/>
          </a:p>
        </p:txBody>
      </p:sp>
      <p:sp>
        <p:nvSpPr>
          <p:cNvPr id="1009" name="step"/>
          <p:cNvSpPr/>
          <p:nvPr/>
        </p:nvSpPr>
        <p:spPr>
          <a:xfrm>
            <a:off x="3240000" y="1150000"/>
            <a:ext cx="2500000" cy="85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10" name="num"/>
          <p:cNvSpPr/>
          <p:nvPr/>
        </p:nvSpPr>
        <p:spPr>
          <a:xfrm>
            <a:off x="3390000" y="1310000"/>
            <a:ext cx="360000" cy="360000"/>
          </a:xfrm>
          <a:prstGeom prst="rect">
            <a:avLst/>
          </a:prstGeom>
          <a:solidFill>
            <a:srgbClr val="1D4ED8"/>
          </a:solidFill>
          <a:ln w="9000">
            <a:solidFill>
              <a:srgbClr val="1D4ED8"/>
            </a:solidFill>
          </a:ln>
        </p:spPr>
      </p:sp>
      <p:sp>
        <p:nvSpPr>
          <p:cNvPr id="1011" name="num text"/>
          <p:cNvSpPr txBox="1"/>
          <p:nvPr/>
        </p:nvSpPr>
        <p:spPr>
          <a:xfrm>
            <a:off x="3390000" y="1375000"/>
            <a:ext cx="3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Noto Sans CJK KR"/>
                <a:ea typeface="Noto Sans CJK KR"/>
              </a:rPr>
              <a:t>2</a:t>
            </a:r>
            <a:endParaRPr lang="ko-KR" sz="1400"/>
          </a:p>
        </p:txBody>
      </p:sp>
      <p:sp>
        <p:nvSpPr>
          <p:cNvPr id="1012" name="step title"/>
          <p:cNvSpPr txBox="1"/>
          <p:nvPr/>
        </p:nvSpPr>
        <p:spPr>
          <a:xfrm>
            <a:off x="3870000" y="1300000"/>
            <a:ext cx="174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지역 확인</a:t>
            </a:r>
            <a:endParaRPr lang="ko-KR" sz="1500"/>
          </a:p>
        </p:txBody>
      </p:sp>
      <p:sp>
        <p:nvSpPr>
          <p:cNvPr id="1013" name="step body"/>
          <p:cNvSpPr txBox="1"/>
          <p:nvPr/>
        </p:nvSpPr>
        <p:spPr>
          <a:xfrm>
            <a:off x="3870000" y="1590000"/>
            <a:ext cx="174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관광지명은 주소/좌표 확인</a:t>
            </a:r>
            <a:endParaRPr lang="ko-KR" sz="1200"/>
          </a:p>
        </p:txBody>
      </p:sp>
      <p:sp>
        <p:nvSpPr>
          <p:cNvPr id="1014" name="step"/>
          <p:cNvSpPr/>
          <p:nvPr/>
        </p:nvSpPr>
        <p:spPr>
          <a:xfrm>
            <a:off x="5960000" y="1150000"/>
            <a:ext cx="2500000" cy="85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15" name="num"/>
          <p:cNvSpPr/>
          <p:nvPr/>
        </p:nvSpPr>
        <p:spPr>
          <a:xfrm>
            <a:off x="6110000" y="1310000"/>
            <a:ext cx="360000" cy="360000"/>
          </a:xfrm>
          <a:prstGeom prst="rect">
            <a:avLst/>
          </a:prstGeom>
          <a:solidFill>
            <a:srgbClr val="166534"/>
          </a:solidFill>
          <a:ln w="9000">
            <a:solidFill>
              <a:srgbClr val="166534"/>
            </a:solidFill>
          </a:ln>
        </p:spPr>
      </p:sp>
      <p:sp>
        <p:nvSpPr>
          <p:cNvPr id="1016" name="num text"/>
          <p:cNvSpPr txBox="1"/>
          <p:nvPr/>
        </p:nvSpPr>
        <p:spPr>
          <a:xfrm>
            <a:off x="6110000" y="1375000"/>
            <a:ext cx="3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Noto Sans CJK KR"/>
                <a:ea typeface="Noto Sans CJK KR"/>
              </a:rPr>
              <a:t>3</a:t>
            </a:r>
            <a:endParaRPr lang="ko-KR" sz="1400"/>
          </a:p>
        </p:txBody>
      </p:sp>
      <p:sp>
        <p:nvSpPr>
          <p:cNvPr id="1017" name="step title"/>
          <p:cNvSpPr txBox="1"/>
          <p:nvPr/>
        </p:nvSpPr>
        <p:spPr>
          <a:xfrm>
            <a:off x="6590000" y="1300000"/>
            <a:ext cx="174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코드 매핑</a:t>
            </a:r>
            <a:endParaRPr lang="ko-KR" sz="1500"/>
          </a:p>
        </p:txBody>
      </p:sp>
      <p:sp>
        <p:nvSpPr>
          <p:cNvPr id="1018" name="step body"/>
          <p:cNvSpPr txBox="1"/>
          <p:nvPr/>
        </p:nvSpPr>
        <p:spPr>
          <a:xfrm>
            <a:off x="6590000" y="1590000"/>
            <a:ext cx="174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areaCd, signguCd 변환</a:t>
            </a:r>
            <a:endParaRPr lang="ko-KR" sz="1200"/>
          </a:p>
        </p:txBody>
      </p:sp>
      <p:sp>
        <p:nvSpPr>
          <p:cNvPr id="1019" name="step"/>
          <p:cNvSpPr/>
          <p:nvPr/>
        </p:nvSpPr>
        <p:spPr>
          <a:xfrm>
            <a:off x="520000" y="2450000"/>
            <a:ext cx="2500000" cy="85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20" name="num"/>
          <p:cNvSpPr/>
          <p:nvPr/>
        </p:nvSpPr>
        <p:spPr>
          <a:xfrm>
            <a:off x="670000" y="2610000"/>
            <a:ext cx="360000" cy="360000"/>
          </a:xfrm>
          <a:prstGeom prst="rect">
            <a:avLst/>
          </a:prstGeom>
          <a:solidFill>
            <a:srgbClr val="B45309"/>
          </a:solidFill>
          <a:ln w="9000">
            <a:solidFill>
              <a:srgbClr val="B45309"/>
            </a:solidFill>
          </a:ln>
        </p:spPr>
      </p:sp>
      <p:sp>
        <p:nvSpPr>
          <p:cNvPr id="1021" name="num text"/>
          <p:cNvSpPr txBox="1"/>
          <p:nvPr/>
        </p:nvSpPr>
        <p:spPr>
          <a:xfrm>
            <a:off x="670000" y="2675000"/>
            <a:ext cx="3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Noto Sans CJK KR"/>
                <a:ea typeface="Noto Sans CJK KR"/>
              </a:rPr>
              <a:t>4</a:t>
            </a:r>
            <a:endParaRPr lang="ko-KR" sz="1400"/>
          </a:p>
        </p:txBody>
      </p:sp>
      <p:sp>
        <p:nvSpPr>
          <p:cNvPr id="1022" name="step title"/>
          <p:cNvSpPr txBox="1"/>
          <p:nvPr/>
        </p:nvSpPr>
        <p:spPr>
          <a:xfrm>
            <a:off x="1150000" y="2600000"/>
            <a:ext cx="174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API 호출</a:t>
            </a:r>
            <a:endParaRPr lang="ko-KR" sz="1500"/>
          </a:p>
        </p:txBody>
      </p:sp>
      <p:sp>
        <p:nvSpPr>
          <p:cNvPr id="1023" name="step body"/>
          <p:cNvSpPr txBox="1"/>
          <p:nvPr/>
        </p:nvSpPr>
        <p:spPr>
          <a:xfrm>
            <a:off x="1150000" y="2890000"/>
            <a:ext cx="174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필요 데이터 선택 호출</a:t>
            </a:r>
            <a:endParaRPr lang="ko-KR" sz="1200"/>
          </a:p>
        </p:txBody>
      </p:sp>
      <p:sp>
        <p:nvSpPr>
          <p:cNvPr id="1024" name="step"/>
          <p:cNvSpPr/>
          <p:nvPr/>
        </p:nvSpPr>
        <p:spPr>
          <a:xfrm>
            <a:off x="3240000" y="2450000"/>
            <a:ext cx="2500000" cy="85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25" name="num"/>
          <p:cNvSpPr/>
          <p:nvPr/>
        </p:nvSpPr>
        <p:spPr>
          <a:xfrm>
            <a:off x="3390000" y="2610000"/>
            <a:ext cx="360000" cy="36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26" name="num text"/>
          <p:cNvSpPr txBox="1"/>
          <p:nvPr/>
        </p:nvSpPr>
        <p:spPr>
          <a:xfrm>
            <a:off x="3390000" y="2675000"/>
            <a:ext cx="3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Noto Sans CJK KR"/>
                <a:ea typeface="Noto Sans CJK KR"/>
              </a:rPr>
              <a:t>5</a:t>
            </a:r>
            <a:endParaRPr lang="ko-KR" sz="1400"/>
          </a:p>
        </p:txBody>
      </p:sp>
      <p:sp>
        <p:nvSpPr>
          <p:cNvPr id="1027" name="step title"/>
          <p:cNvSpPr txBox="1"/>
          <p:nvPr/>
        </p:nvSpPr>
        <p:spPr>
          <a:xfrm>
            <a:off x="3870000" y="2600000"/>
            <a:ext cx="174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데이터 해석</a:t>
            </a:r>
            <a:endParaRPr lang="ko-KR" sz="1500"/>
          </a:p>
        </p:txBody>
      </p:sp>
      <p:sp>
        <p:nvSpPr>
          <p:cNvPr id="1028" name="step body"/>
          <p:cNvSpPr txBox="1"/>
          <p:nvPr/>
        </p:nvSpPr>
        <p:spPr>
          <a:xfrm>
            <a:off x="3870000" y="2890000"/>
            <a:ext cx="174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방문자·수요·동선 조합</a:t>
            </a:r>
            <a:endParaRPr lang="ko-KR" sz="1200"/>
          </a:p>
        </p:txBody>
      </p:sp>
      <p:sp>
        <p:nvSpPr>
          <p:cNvPr id="1029" name="step"/>
          <p:cNvSpPr/>
          <p:nvPr/>
        </p:nvSpPr>
        <p:spPr>
          <a:xfrm>
            <a:off x="5960000" y="2450000"/>
            <a:ext cx="2500000" cy="85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30" name="num"/>
          <p:cNvSpPr/>
          <p:nvPr/>
        </p:nvSpPr>
        <p:spPr>
          <a:xfrm>
            <a:off x="6110000" y="2610000"/>
            <a:ext cx="360000" cy="360000"/>
          </a:xfrm>
          <a:prstGeom prst="rect">
            <a:avLst/>
          </a:prstGeom>
          <a:solidFill>
            <a:srgbClr val="1D4ED8"/>
          </a:solidFill>
          <a:ln w="9000">
            <a:solidFill>
              <a:srgbClr val="1D4ED8"/>
            </a:solidFill>
          </a:ln>
        </p:spPr>
      </p:sp>
      <p:sp>
        <p:nvSpPr>
          <p:cNvPr id="1031" name="num text"/>
          <p:cNvSpPr txBox="1"/>
          <p:nvPr/>
        </p:nvSpPr>
        <p:spPr>
          <a:xfrm>
            <a:off x="6110000" y="2675000"/>
            <a:ext cx="360000" cy="1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400" b="1">
                <a:solidFill>
                  <a:srgbClr val="FFFFFF"/>
                </a:solidFill>
                <a:latin typeface="Noto Sans CJK KR"/>
                <a:ea typeface="Noto Sans CJK KR"/>
              </a:rPr>
              <a:t>6</a:t>
            </a:r>
            <a:endParaRPr lang="ko-KR" sz="1400"/>
          </a:p>
        </p:txBody>
      </p:sp>
      <p:sp>
        <p:nvSpPr>
          <p:cNvPr id="1032" name="step title"/>
          <p:cNvSpPr txBox="1"/>
          <p:nvPr/>
        </p:nvSpPr>
        <p:spPr>
          <a:xfrm>
            <a:off x="6590000" y="2600000"/>
            <a:ext cx="174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리포트 생성</a:t>
            </a:r>
            <a:endParaRPr lang="ko-KR" sz="1500"/>
          </a:p>
        </p:txBody>
      </p:sp>
      <p:sp>
        <p:nvSpPr>
          <p:cNvPr id="1033" name="step body"/>
          <p:cNvSpPr txBox="1"/>
          <p:nvPr/>
        </p:nvSpPr>
        <p:spPr>
          <a:xfrm>
            <a:off x="6590000" y="2890000"/>
            <a:ext cx="174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아이템·리스크 제안</a:t>
            </a:r>
            <a:endParaRPr lang="ko-KR" sz="1200"/>
          </a:p>
        </p:txBody>
      </p:sp>
      <p:sp>
        <p:nvSpPr>
          <p:cNvPr id="1034" name="flow note"/>
          <p:cNvSpPr txBox="1"/>
          <p:nvPr/>
        </p:nvSpPr>
        <p:spPr>
          <a:xfrm>
            <a:off x="820000" y="4150000"/>
            <a:ext cx="7600000" cy="2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400" b="1">
                <a:solidFill>
                  <a:srgbClr val="14213D"/>
                </a:solidFill>
                <a:latin typeface="Noto Sans CJK KR"/>
                <a:ea typeface="Noto Sans CJK KR"/>
              </a:rPr>
              <a:t>한 API 결과만으로 결론을 내리지 않고 여러 데이터 신호를 조합합니다.</a:t>
            </a:r>
            <a:endParaRPr lang="ko-KR" sz="14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0" name="Google Shape;180;p22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2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82" name="Google Shape;182;p22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83" name="Google Shape;183;p22"/>
          <p:cNvSpPr/>
          <p:nvPr/>
        </p:nvSpPr>
        <p:spPr>
          <a:xfrm>
            <a:off x="236425" y="1345875"/>
            <a:ext cx="8528700" cy="3427200"/>
          </a:xfrm>
          <a:prstGeom prst="roundRect">
            <a:avLst>
              <a:gd fmla="val 5248" name="adj"/>
            </a:avLst>
          </a:prstGeom>
          <a:solidFill>
            <a:srgbClr val="D6E9F7">
              <a:alpha val="498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9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9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accent bar"/>
          <p:cNvSpPr/>
          <p:nvPr/>
        </p:nvSpPr>
        <p:spPr>
          <a:xfrm>
            <a:off x="270000" y="225000"/>
            <a:ext cx="90000" cy="3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2" name="title"/>
          <p:cNvSpPr txBox="1"/>
          <p:nvPr/>
        </p:nvSpPr>
        <p:spPr>
          <a:xfrm>
            <a:off x="420000" y="23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14213D"/>
                </a:solidFill>
                <a:latin typeface="Noto Sans CJK KR"/>
                <a:ea typeface="Noto Sans CJK KR"/>
              </a:rPr>
              <a:t>서비스 시연 영상</a:t>
            </a:r>
            <a:endParaRPr lang="ko-KR" sz="2000"/>
          </a:p>
        </p:txBody>
      </p:sp>
      <p:sp>
        <p:nvSpPr>
          <p:cNvPr id="1003" name="kicker"/>
          <p:cNvSpPr txBox="1"/>
          <p:nvPr/>
        </p:nvSpPr>
        <p:spPr>
          <a:xfrm>
            <a:off x="7350000" y="245000"/>
            <a:ext cx="1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1000">
                <a:solidFill>
                  <a:srgbClr val="4B5563"/>
                </a:solidFill>
                <a:latin typeface="Noto Sans CJK KR"/>
                <a:ea typeface="Noto Sans CJK KR"/>
              </a:rPr>
              <a:t>optional</a:t>
            </a:r>
            <a:endParaRPr lang="ko-KR" sz="1000"/>
          </a:p>
        </p:txBody>
      </p:sp>
      <p:sp>
        <p:nvSpPr>
          <p:cNvPr id="1004" name="video box"/>
          <p:cNvSpPr/>
          <p:nvPr/>
        </p:nvSpPr>
        <p:spPr>
          <a:xfrm>
            <a:off x="850000" y="1120000"/>
            <a:ext cx="7200000" cy="2500000"/>
          </a:xfrm>
          <a:prstGeom prst="rect">
            <a:avLst/>
          </a:prstGeom>
          <a:solidFill>
            <a:srgbClr val="EEF2F7"/>
          </a:solidFill>
          <a:ln w="9000">
            <a:solidFill>
              <a:srgbClr val="D6DEE8"/>
            </a:solidFill>
          </a:ln>
        </p:spPr>
      </p:sp>
      <p:sp>
        <p:nvSpPr>
          <p:cNvPr id="1005" name="video placeholder"/>
          <p:cNvSpPr txBox="1"/>
          <p:nvPr/>
        </p:nvSpPr>
        <p:spPr>
          <a:xfrm>
            <a:off x="1200000" y="1900000"/>
            <a:ext cx="66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2400" b="1">
                <a:solidFill>
                  <a:srgbClr val="4B5563"/>
                </a:solidFill>
                <a:latin typeface="Noto Sans CJK KR"/>
                <a:ea typeface="Noto Sans CJK KR"/>
              </a:rPr>
              <a:t>시연 영상 링크 또는 QR 삽입 영역</a:t>
            </a:r>
            <a:endParaRPr lang="ko-KR" sz="2400"/>
          </a:p>
        </p:txBody>
      </p:sp>
      <p:sp>
        <p:nvSpPr>
          <p:cNvPr id="1006" name="video note"/>
          <p:cNvSpPr txBox="1"/>
          <p:nvPr/>
        </p:nvSpPr>
        <p:spPr>
          <a:xfrm>
            <a:off x="1050000" y="3900000"/>
            <a:ext cx="7000000" cy="50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500">
                <a:solidFill>
                  <a:srgbClr val="14213D"/>
                </a:solidFill>
                <a:latin typeface="Noto Sans CJK KR"/>
                <a:ea typeface="Noto Sans CJK KR"/>
              </a:rPr>
              <a:t>영상이 없을 경우 이 장은 삭제하거나, 엔노이아 앱 공유 URL과 화면 캡처 시연으로 대체합니다.</a:t>
            </a:r>
            <a:endParaRPr lang="ko-KR" sz="15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88" name="Google Shape;188;p23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9" name="Google Shape;189;p23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190" name="Google Shape;190;p23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191" name="Google Shape;191;p23"/>
          <p:cNvGraphicFramePr/>
          <p:nvPr/>
        </p:nvGraphicFramePr>
        <p:xfrm>
          <a:off x="2364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92" name="Google Shape;192;p23"/>
          <p:cNvSpPr txBox="1"/>
          <p:nvPr/>
        </p:nvSpPr>
        <p:spPr>
          <a:xfrm>
            <a:off x="4698925" y="2162997"/>
            <a:ext cx="4208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0" spcFirstLastPara="1" rIns="0" wrap="square" tIns="180000">
            <a:noAutofit/>
          </a:bodyPr>
          <a:lstStyle/>
          <a:p>
            <a:pPr indent="-1206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KR"/>
              <a:buChar char="⬝"/>
            </a:pPr>
            <a:r>
              <a:rPr lang="ko" sz="11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1206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KR"/>
              <a:buChar char="⬝"/>
            </a:pPr>
            <a:r>
              <a:rPr lang="ko" sz="11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193" name="Google Shape;193;p23"/>
          <p:cNvGraphicFramePr/>
          <p:nvPr/>
        </p:nvGraphicFramePr>
        <p:xfrm>
          <a:off x="46990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4" name="Google Shape;194;p23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36408" y="219572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3"/>
          <p:cNvPicPr preferRelativeResize="0"/>
          <p:nvPr/>
        </p:nvPicPr>
        <p:blipFill rotWithShape="1">
          <a:blip r:embed="rId4">
            <a:alphaModFix amt="7990"/>
          </a:blip>
          <a:srcRect b="0" l="0" r="0" t="0"/>
          <a:stretch/>
        </p:blipFill>
        <p:spPr>
          <a:xfrm>
            <a:off x="236408" y="276992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3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236408" y="334412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3"/>
          <p:cNvPicPr preferRelativeResize="0"/>
          <p:nvPr/>
        </p:nvPicPr>
        <p:blipFill rotWithShape="1">
          <a:blip r:embed="rId5">
            <a:alphaModFix amt="7990"/>
          </a:blip>
          <a:srcRect b="0" l="0" r="0" t="0"/>
          <a:stretch/>
        </p:blipFill>
        <p:spPr>
          <a:xfrm>
            <a:off x="236408" y="3918325"/>
            <a:ext cx="4059834" cy="48523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23"/>
          <p:cNvSpPr txBox="1"/>
          <p:nvPr/>
        </p:nvSpPr>
        <p:spPr>
          <a:xfrm>
            <a:off x="1006700" y="2482825"/>
            <a:ext cx="3640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99" name="Google Shape;199;p23"/>
          <p:cNvSpPr txBox="1"/>
          <p:nvPr/>
        </p:nvSpPr>
        <p:spPr>
          <a:xfrm>
            <a:off x="1006696" y="305703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0" name="Google Shape;200;p23"/>
          <p:cNvSpPr txBox="1"/>
          <p:nvPr/>
        </p:nvSpPr>
        <p:spPr>
          <a:xfrm>
            <a:off x="1006696" y="3631234"/>
            <a:ext cx="3581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1" name="Google Shape;201;p23"/>
          <p:cNvSpPr txBox="1"/>
          <p:nvPr/>
        </p:nvSpPr>
        <p:spPr>
          <a:xfrm>
            <a:off x="1006696" y="420543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2" name="Google Shape;202;p23"/>
          <p:cNvSpPr txBox="1"/>
          <p:nvPr/>
        </p:nvSpPr>
        <p:spPr>
          <a:xfrm>
            <a:off x="430505" y="2236162"/>
            <a:ext cx="3315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3" name="Google Shape;203;p23"/>
          <p:cNvSpPr txBox="1"/>
          <p:nvPr/>
        </p:nvSpPr>
        <p:spPr>
          <a:xfrm>
            <a:off x="430505" y="2810362"/>
            <a:ext cx="3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4" name="Google Shape;204;p23"/>
          <p:cNvSpPr txBox="1"/>
          <p:nvPr/>
        </p:nvSpPr>
        <p:spPr>
          <a:xfrm>
            <a:off x="426461" y="3380518"/>
            <a:ext cx="339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5" name="Google Shape;205;p23"/>
          <p:cNvSpPr txBox="1"/>
          <p:nvPr/>
        </p:nvSpPr>
        <p:spPr>
          <a:xfrm>
            <a:off x="426461" y="3954718"/>
            <a:ext cx="3438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6" name="Google Shape;206;p23"/>
          <p:cNvSpPr txBox="1"/>
          <p:nvPr/>
        </p:nvSpPr>
        <p:spPr>
          <a:xfrm>
            <a:off x="960228" y="2284686"/>
            <a:ext cx="29436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7" name="Google Shape;207;p23"/>
          <p:cNvSpPr txBox="1"/>
          <p:nvPr/>
        </p:nvSpPr>
        <p:spPr>
          <a:xfrm>
            <a:off x="960228" y="2858886"/>
            <a:ext cx="2996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17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8" name="Google Shape;208;p23"/>
          <p:cNvSpPr txBox="1"/>
          <p:nvPr/>
        </p:nvSpPr>
        <p:spPr>
          <a:xfrm>
            <a:off x="960228" y="3433085"/>
            <a:ext cx="2923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09" name="Google Shape;209;p23"/>
          <p:cNvSpPr txBox="1"/>
          <p:nvPr/>
        </p:nvSpPr>
        <p:spPr>
          <a:xfrm>
            <a:off x="960228" y="4007285"/>
            <a:ext cx="2891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10" name="Google Shape;210;p23"/>
          <p:cNvSpPr txBox="1"/>
          <p:nvPr/>
        </p:nvSpPr>
        <p:spPr>
          <a:xfrm>
            <a:off x="315825" y="1153150"/>
            <a:ext cx="41292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br>
              <a:rPr lang="ko" sz="721"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accent bar"/>
          <p:cNvSpPr/>
          <p:nvPr/>
        </p:nvSpPr>
        <p:spPr>
          <a:xfrm>
            <a:off x="270000" y="225000"/>
            <a:ext cx="90000" cy="3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2" name="title"/>
          <p:cNvSpPr txBox="1"/>
          <p:nvPr/>
        </p:nvSpPr>
        <p:spPr>
          <a:xfrm>
            <a:off x="420000" y="23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14213D"/>
                </a:solidFill>
                <a:latin typeface="Noto Sans CJK KR"/>
                <a:ea typeface="Noto Sans CJK KR"/>
              </a:rPr>
              <a:t>한국관광공사 OpenAPI 활용 경험</a:t>
            </a:r>
            <a:endParaRPr lang="ko-KR" sz="2000"/>
          </a:p>
        </p:txBody>
      </p:sp>
      <p:sp>
        <p:nvSpPr>
          <p:cNvPr id="1003" name="kicker"/>
          <p:cNvSpPr txBox="1"/>
          <p:nvPr/>
        </p:nvSpPr>
        <p:spPr>
          <a:xfrm>
            <a:off x="7350000" y="245000"/>
            <a:ext cx="1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1000">
                <a:solidFill>
                  <a:srgbClr val="4B5563"/>
                </a:solidFill>
                <a:latin typeface="Noto Sans CJK KR"/>
                <a:ea typeface="Noto Sans CJK KR"/>
              </a:rPr>
              <a:t>API 7개</a:t>
            </a:r>
            <a:endParaRPr lang="ko-KR" sz="1000"/>
          </a:p>
        </p:txBody>
      </p:sp>
      <p:sp>
        <p:nvSpPr>
          <p:cNvPr id="1004" name="card"/>
          <p:cNvSpPr/>
          <p:nvPr/>
        </p:nvSpPr>
        <p:spPr>
          <a:xfrm>
            <a:off x="450000" y="900000"/>
            <a:ext cx="2700000" cy="23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5" name="card accent"/>
          <p:cNvSpPr/>
          <p:nvPr/>
        </p:nvSpPr>
        <p:spPr>
          <a:xfrm>
            <a:off x="450000" y="900000"/>
            <a:ext cx="70000" cy="23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6" name="card title"/>
          <p:cNvSpPr txBox="1"/>
          <p:nvPr/>
        </p:nvSpPr>
        <p:spPr>
          <a:xfrm>
            <a:off x="610000" y="1030000"/>
            <a:ext cx="24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장소 확인</a:t>
            </a:r>
            <a:endParaRPr lang="ko-KR" sz="1500"/>
          </a:p>
        </p:txBody>
      </p:sp>
      <p:sp>
        <p:nvSpPr>
          <p:cNvPr id="1007" name="card body"/>
          <p:cNvSpPr txBox="1"/>
          <p:nvPr/>
        </p:nvSpPr>
        <p:spPr>
          <a:xfrm>
            <a:off x="610000" y="1410000"/>
            <a:ext cx="2450000" cy="16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국문 관광정보 서비스</a:t>
            </a:r>
            <a:endParaRPr lang="ko-KR" sz="1200"/>
          </a:p>
          <a:p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관광지명 검색, 주소, 좌표, contentId 확인</a:t>
            </a:r>
            <a:endParaRPr lang="ko-KR" sz="1200"/>
          </a:p>
        </p:txBody>
      </p:sp>
      <p:sp>
        <p:nvSpPr>
          <p:cNvPr id="1008" name="card"/>
          <p:cNvSpPr/>
          <p:nvPr/>
        </p:nvSpPr>
        <p:spPr>
          <a:xfrm>
            <a:off x="3370000" y="900000"/>
            <a:ext cx="2700000" cy="23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9" name="card accent"/>
          <p:cNvSpPr/>
          <p:nvPr/>
        </p:nvSpPr>
        <p:spPr>
          <a:xfrm>
            <a:off x="3370000" y="900000"/>
            <a:ext cx="70000" cy="2300000"/>
          </a:xfrm>
          <a:prstGeom prst="rect">
            <a:avLst/>
          </a:prstGeom>
          <a:solidFill>
            <a:srgbClr val="1D4ED8"/>
          </a:solidFill>
          <a:ln w="9000">
            <a:solidFill>
              <a:srgbClr val="1D4ED8"/>
            </a:solidFill>
          </a:ln>
        </p:spPr>
      </p:sp>
      <p:sp>
        <p:nvSpPr>
          <p:cNvPr id="1010" name="card title"/>
          <p:cNvSpPr txBox="1"/>
          <p:nvPr/>
        </p:nvSpPr>
        <p:spPr>
          <a:xfrm>
            <a:off x="3530000" y="1030000"/>
            <a:ext cx="24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수요 분석</a:t>
            </a:r>
            <a:endParaRPr lang="ko-KR" sz="1500"/>
          </a:p>
        </p:txBody>
      </p:sp>
      <p:sp>
        <p:nvSpPr>
          <p:cNvPr id="1011" name="card body"/>
          <p:cNvSpPr txBox="1"/>
          <p:nvPr/>
        </p:nvSpPr>
        <p:spPr>
          <a:xfrm>
            <a:off x="3530000" y="1410000"/>
            <a:ext cx="2450000" cy="16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관광 빅데이터 정보 서비스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지역별 관광 수요 강도 정보 서비스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지역별 관광 자원 수요 정보 서비스</a:t>
            </a:r>
            <a:endParaRPr lang="ko-KR" sz="1200"/>
          </a:p>
          <a:p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방문자 규모, 체류, 소비, 자원 수요 확인</a:t>
            </a:r>
            <a:endParaRPr lang="ko-KR" sz="1200"/>
          </a:p>
        </p:txBody>
      </p:sp>
      <p:sp>
        <p:nvSpPr>
          <p:cNvPr id="1012" name="card"/>
          <p:cNvSpPr/>
          <p:nvPr/>
        </p:nvSpPr>
        <p:spPr>
          <a:xfrm>
            <a:off x="6290000" y="900000"/>
            <a:ext cx="2700000" cy="23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13" name="card accent"/>
          <p:cNvSpPr/>
          <p:nvPr/>
        </p:nvSpPr>
        <p:spPr>
          <a:xfrm>
            <a:off x="6290000" y="900000"/>
            <a:ext cx="70000" cy="2300000"/>
          </a:xfrm>
          <a:prstGeom prst="rect">
            <a:avLst/>
          </a:prstGeom>
          <a:solidFill>
            <a:srgbClr val="166534"/>
          </a:solidFill>
          <a:ln w="9000">
            <a:solidFill>
              <a:srgbClr val="166534"/>
            </a:solidFill>
          </a:ln>
        </p:spPr>
      </p:sp>
      <p:sp>
        <p:nvSpPr>
          <p:cNvPr id="1014" name="card title"/>
          <p:cNvSpPr txBox="1"/>
          <p:nvPr/>
        </p:nvSpPr>
        <p:spPr>
          <a:xfrm>
            <a:off x="6450000" y="1030000"/>
            <a:ext cx="24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동선·콘텐츠 분석</a:t>
            </a:r>
            <a:endParaRPr lang="ko-KR" sz="1500"/>
          </a:p>
        </p:txBody>
      </p:sp>
      <p:sp>
        <p:nvSpPr>
          <p:cNvPr id="1015" name="card body"/>
          <p:cNvSpPr txBox="1"/>
          <p:nvPr/>
        </p:nvSpPr>
        <p:spPr>
          <a:xfrm>
            <a:off x="6450000" y="1410000"/>
            <a:ext cx="2450000" cy="16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기초지자체 중심관광지 정보 서비스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관광지별 연관관광지 정보 서비스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웰니스 관광정보 서비스</a:t>
            </a:r>
            <a:endParaRPr lang="ko-KR" sz="1200"/>
          </a:p>
          <a:p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관광 거점, 주변 동선, 웰니스 콘텐츠 확인</a:t>
            </a:r>
            <a:endParaRPr lang="ko-KR" sz="1200"/>
          </a:p>
        </p:txBody>
      </p:sp>
      <p:sp>
        <p:nvSpPr>
          <p:cNvPr id="1016" name="api note"/>
          <p:cNvSpPr/>
          <p:nvPr/>
        </p:nvSpPr>
        <p:spPr>
          <a:xfrm>
            <a:off x="650000" y="3800000"/>
            <a:ext cx="7900000" cy="620000"/>
          </a:xfrm>
          <a:prstGeom prst="rect">
            <a:avLst/>
          </a:prstGeom>
          <a:solidFill>
            <a:srgbClr val="D9F3EF"/>
          </a:solidFill>
          <a:ln w="9000">
            <a:solidFill>
              <a:srgbClr val="D9F3EF"/>
            </a:solidFill>
          </a:ln>
        </p:spPr>
      </p:sp>
      <p:sp>
        <p:nvSpPr>
          <p:cNvPr id="1017" name="api note text"/>
          <p:cNvSpPr txBox="1"/>
          <p:nvPr/>
        </p:nvSpPr>
        <p:spPr>
          <a:xfrm>
            <a:off x="900000" y="3970000"/>
            <a:ext cx="740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300" b="1">
                <a:solidFill>
                  <a:srgbClr val="14213D"/>
                </a:solidFill>
                <a:latin typeface="Noto Sans CJK KR"/>
                <a:ea typeface="Noto Sans CJK KR"/>
              </a:rPr>
              <a:t>지역명/지역코드 lookup CSV와 지표 코드 CSV를 엔노이아 문서 폴더에 첨부해 API 호출 파라미터 변환에 활용했습니다.</a:t>
            </a:r>
            <a:endParaRPr lang="ko-KR" sz="13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5" name="Google Shape;215;p24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16" name="Google Shape;216;p24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217" name="Google Shape;217;p24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18" name="Google Shape;218;p24"/>
          <p:cNvGraphicFramePr/>
          <p:nvPr/>
        </p:nvGraphicFramePr>
        <p:xfrm>
          <a:off x="2364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9" name="Google Shape;219;p24"/>
          <p:cNvSpPr txBox="1"/>
          <p:nvPr/>
        </p:nvSpPr>
        <p:spPr>
          <a:xfrm>
            <a:off x="236400" y="2014122"/>
            <a:ext cx="4208700" cy="8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180000" lIns="0" spcFirstLastPara="1" rIns="0" wrap="square" tIns="180000">
            <a:noAutofit/>
          </a:bodyPr>
          <a:lstStyle/>
          <a:p>
            <a:pPr indent="-120650" lvl="0" marL="1397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100"/>
              <a:buFont typeface="Noto Sans KR"/>
              <a:buChar char="⬝"/>
            </a:pPr>
            <a:r>
              <a:rPr lang="ko" sz="11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1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graphicFrame>
        <p:nvGraphicFramePr>
          <p:cNvPr id="220" name="Google Shape;220;p24"/>
          <p:cNvGraphicFramePr/>
          <p:nvPr/>
        </p:nvGraphicFramePr>
        <p:xfrm>
          <a:off x="4699000" y="169012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{55826E36-F4B4-43C7-A6BA-13248B7EEA96}</a:tableStyleId>
              </a:tblPr>
              <a:tblGrid>
                <a:gridCol w="4208550"/>
              </a:tblGrid>
              <a:tr h="324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ko" sz="10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/>
                      </a:r>
                      <a:endParaRPr b="1" sz="1000">
                        <a:solidFill>
                          <a:srgbClr val="000000"/>
                        </a:solidFill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0" marB="0" marR="0" marL="0" anchor="ctr">
                    <a:lnL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75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75">
                      <a:solidFill>
                        <a:srgbClr val="14191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221" name="Google Shape;221;p24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4627308" y="224197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4"/>
          <p:cNvPicPr preferRelativeResize="0"/>
          <p:nvPr/>
        </p:nvPicPr>
        <p:blipFill rotWithShape="1">
          <a:blip r:embed="rId4">
            <a:alphaModFix amt="7990"/>
          </a:blip>
          <a:srcRect b="0" l="0" r="0" t="0"/>
          <a:stretch/>
        </p:blipFill>
        <p:spPr>
          <a:xfrm>
            <a:off x="4627308" y="281617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4"/>
          <p:cNvPicPr preferRelativeResize="0"/>
          <p:nvPr/>
        </p:nvPicPr>
        <p:blipFill rotWithShape="1">
          <a:blip r:embed="rId3">
            <a:alphaModFix amt="8000"/>
          </a:blip>
          <a:srcRect b="0" l="0" r="0" t="0"/>
          <a:stretch/>
        </p:blipFill>
        <p:spPr>
          <a:xfrm>
            <a:off x="4627308" y="3390375"/>
            <a:ext cx="4059834" cy="4852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4"/>
          <p:cNvPicPr preferRelativeResize="0"/>
          <p:nvPr/>
        </p:nvPicPr>
        <p:blipFill rotWithShape="1">
          <a:blip r:embed="rId5">
            <a:alphaModFix amt="7990"/>
          </a:blip>
          <a:srcRect b="0" l="0" r="0" t="0"/>
          <a:stretch/>
        </p:blipFill>
        <p:spPr>
          <a:xfrm>
            <a:off x="4627308" y="3964575"/>
            <a:ext cx="4059834" cy="48523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4"/>
          <p:cNvSpPr txBox="1"/>
          <p:nvPr/>
        </p:nvSpPr>
        <p:spPr>
          <a:xfrm>
            <a:off x="5397600" y="2529075"/>
            <a:ext cx="36405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6" name="Google Shape;226;p24"/>
          <p:cNvSpPr txBox="1"/>
          <p:nvPr/>
        </p:nvSpPr>
        <p:spPr>
          <a:xfrm>
            <a:off x="5397596" y="310328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7" name="Google Shape;227;p24"/>
          <p:cNvSpPr txBox="1"/>
          <p:nvPr/>
        </p:nvSpPr>
        <p:spPr>
          <a:xfrm>
            <a:off x="5397596" y="3677484"/>
            <a:ext cx="3581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8" name="Google Shape;228;p24"/>
          <p:cNvSpPr txBox="1"/>
          <p:nvPr/>
        </p:nvSpPr>
        <p:spPr>
          <a:xfrm>
            <a:off x="5397596" y="4251684"/>
            <a:ext cx="3746400" cy="1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15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" sz="721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721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29" name="Google Shape;229;p24"/>
          <p:cNvSpPr txBox="1"/>
          <p:nvPr/>
        </p:nvSpPr>
        <p:spPr>
          <a:xfrm>
            <a:off x="4821405" y="2282412"/>
            <a:ext cx="3315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0" name="Google Shape;230;p24"/>
          <p:cNvSpPr txBox="1"/>
          <p:nvPr/>
        </p:nvSpPr>
        <p:spPr>
          <a:xfrm>
            <a:off x="4821405" y="2856612"/>
            <a:ext cx="3354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1" name="Google Shape;231;p24"/>
          <p:cNvSpPr txBox="1"/>
          <p:nvPr/>
        </p:nvSpPr>
        <p:spPr>
          <a:xfrm>
            <a:off x="4817361" y="3426768"/>
            <a:ext cx="3399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2" name="Google Shape;232;p24"/>
          <p:cNvSpPr txBox="1"/>
          <p:nvPr/>
        </p:nvSpPr>
        <p:spPr>
          <a:xfrm>
            <a:off x="4817361" y="4000968"/>
            <a:ext cx="343800" cy="4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14525" lIns="29100" spcFirstLastPara="1" rIns="29100" wrap="square" tIns="14525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ko" sz="2734" u="none" cap="none" strike="noStrike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446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5351128" y="2330936"/>
            <a:ext cx="29436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4" name="Google Shape;234;p24"/>
          <p:cNvSpPr txBox="1"/>
          <p:nvPr/>
        </p:nvSpPr>
        <p:spPr>
          <a:xfrm>
            <a:off x="5351128" y="2905136"/>
            <a:ext cx="29961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117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5" name="Google Shape;235;p24"/>
          <p:cNvSpPr txBox="1"/>
          <p:nvPr/>
        </p:nvSpPr>
        <p:spPr>
          <a:xfrm>
            <a:off x="5351128" y="3479335"/>
            <a:ext cx="29235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36" name="Google Shape;236;p24"/>
          <p:cNvSpPr txBox="1"/>
          <p:nvPr/>
        </p:nvSpPr>
        <p:spPr>
          <a:xfrm>
            <a:off x="5351128" y="4053535"/>
            <a:ext cx="2891400" cy="198300"/>
          </a:xfrm>
          <a:prstGeom prst="rect">
            <a:avLst/>
          </a:prstGeom>
          <a:noFill/>
          <a:ln>
            <a:noFill/>
          </a:ln>
        </p:spPr>
        <p:txBody>
          <a:bodyPr anchorCtr="0" anchor="b" bIns="14525" lIns="29100" spcFirstLastPara="1" rIns="29100" wrap="square" tIns="14525">
            <a:noAutofit/>
          </a:bodyPr>
          <a:lstStyle/>
          <a:p>
            <a:pPr indent="0" lvl="0" marL="0" marR="0" rtl="0" algn="l">
              <a:lnSpc>
                <a:spcPct val="139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117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446">
              <a:solidFill>
                <a:srgbClr val="000000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accent bar"/>
          <p:cNvSpPr/>
          <p:nvPr/>
        </p:nvSpPr>
        <p:spPr>
          <a:xfrm>
            <a:off x="270000" y="225000"/>
            <a:ext cx="90000" cy="3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2" name="title"/>
          <p:cNvSpPr txBox="1"/>
          <p:nvPr/>
        </p:nvSpPr>
        <p:spPr>
          <a:xfrm>
            <a:off x="420000" y="23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14213D"/>
                </a:solidFill>
                <a:latin typeface="Noto Sans CJK KR"/>
                <a:ea typeface="Noto Sans CJK KR"/>
              </a:rPr>
              <a:t>시행착오 &amp; 개선시도</a:t>
            </a:r>
            <a:endParaRPr lang="ko-KR" sz="2000"/>
          </a:p>
        </p:txBody>
      </p:sp>
      <p:sp>
        <p:nvSpPr>
          <p:cNvPr id="1003" name="kicker"/>
          <p:cNvSpPr txBox="1"/>
          <p:nvPr/>
        </p:nvSpPr>
        <p:spPr>
          <a:xfrm>
            <a:off x="7350000" y="245000"/>
            <a:ext cx="1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1000">
                <a:solidFill>
                  <a:srgbClr val="4B5563"/>
                </a:solidFill>
                <a:latin typeface="Noto Sans CJK KR"/>
                <a:ea typeface="Noto Sans CJK KR"/>
              </a:rPr>
              <a:t>개선 결과</a:t>
            </a:r>
            <a:endParaRPr lang="ko-KR" sz="1000"/>
          </a:p>
        </p:txBody>
      </p:sp>
      <p:sp>
        <p:nvSpPr>
          <p:cNvPr id="1004" name="row"/>
          <p:cNvSpPr/>
          <p:nvPr/>
        </p:nvSpPr>
        <p:spPr>
          <a:xfrm>
            <a:off x="520000" y="900000"/>
            <a:ext cx="8100000" cy="68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5" name="row num"/>
          <p:cNvSpPr/>
          <p:nvPr/>
        </p:nvSpPr>
        <p:spPr>
          <a:xfrm>
            <a:off x="650000" y="1080000"/>
            <a:ext cx="330000" cy="33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6" name="row num t"/>
          <p:cNvSpPr txBox="1"/>
          <p:nvPr/>
        </p:nvSpPr>
        <p:spPr>
          <a:xfrm>
            <a:off x="650000" y="1130000"/>
            <a:ext cx="330000" cy="1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300" b="1">
                <a:solidFill>
                  <a:srgbClr val="FFFFFF"/>
                </a:solidFill>
                <a:latin typeface="Noto Sans CJK KR"/>
                <a:ea typeface="Noto Sans CJK KR"/>
              </a:rPr>
              <a:t>1</a:t>
            </a:r>
            <a:endParaRPr lang="ko-KR" sz="1300"/>
          </a:p>
        </p:txBody>
      </p:sp>
      <p:sp>
        <p:nvSpPr>
          <p:cNvPr id="1007" name="trial a"/>
          <p:cNvSpPr txBox="1"/>
          <p:nvPr/>
        </p:nvSpPr>
        <p:spPr>
          <a:xfrm>
            <a:off x="1140000" y="1020000"/>
            <a:ext cx="23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100" b="1">
                <a:solidFill>
                  <a:srgbClr val="14213D"/>
                </a:solidFill>
                <a:latin typeface="Noto Sans CJK KR"/>
                <a:ea typeface="Noto Sans CJK KR"/>
              </a:rPr>
              <a:t>시행착오: 일반 여행 추천과 차별성이 약함</a:t>
            </a:r>
            <a:endParaRPr lang="ko-KR" sz="1100"/>
          </a:p>
        </p:txBody>
      </p:sp>
      <p:sp>
        <p:nvSpPr>
          <p:cNvPr id="1008" name="trial b"/>
          <p:cNvSpPr txBox="1"/>
          <p:nvPr/>
        </p:nvSpPr>
        <p:spPr>
          <a:xfrm>
            <a:off x="3720000" y="1020000"/>
            <a:ext cx="26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100" b="1">
                <a:solidFill>
                  <a:srgbClr val="14213D"/>
                </a:solidFill>
                <a:latin typeface="Noto Sans CJK KR"/>
                <a:ea typeface="Noto Sans CJK KR"/>
              </a:rPr>
              <a:t>개선시도: 창업 분석 챗봇으로 전환</a:t>
            </a:r>
            <a:endParaRPr lang="ko-KR" sz="1100"/>
          </a:p>
        </p:txBody>
      </p:sp>
      <p:sp>
        <p:nvSpPr>
          <p:cNvPr id="1009" name="trial c"/>
          <p:cNvSpPr txBox="1"/>
          <p:nvPr/>
        </p:nvSpPr>
        <p:spPr>
          <a:xfrm>
            <a:off x="6520000" y="1020000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100" b="1">
                <a:solidFill>
                  <a:srgbClr val="14213D"/>
                </a:solidFill>
                <a:latin typeface="Noto Sans CJK KR"/>
                <a:ea typeface="Noto Sans CJK KR"/>
              </a:rPr>
              <a:t>개선결과: 공공데이터 활용 목적 명확화</a:t>
            </a:r>
            <a:endParaRPr lang="ko-KR" sz="1100"/>
          </a:p>
        </p:txBody>
      </p:sp>
      <p:sp>
        <p:nvSpPr>
          <p:cNvPr id="1010" name="row"/>
          <p:cNvSpPr/>
          <p:nvPr/>
        </p:nvSpPr>
        <p:spPr>
          <a:xfrm>
            <a:off x="520000" y="1720000"/>
            <a:ext cx="8100000" cy="68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11" name="row num"/>
          <p:cNvSpPr/>
          <p:nvPr/>
        </p:nvSpPr>
        <p:spPr>
          <a:xfrm>
            <a:off x="650000" y="1900000"/>
            <a:ext cx="330000" cy="33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12" name="row num t"/>
          <p:cNvSpPr txBox="1"/>
          <p:nvPr/>
        </p:nvSpPr>
        <p:spPr>
          <a:xfrm>
            <a:off x="650000" y="1950000"/>
            <a:ext cx="330000" cy="1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300" b="1">
                <a:solidFill>
                  <a:srgbClr val="FFFFFF"/>
                </a:solidFill>
                <a:latin typeface="Noto Sans CJK KR"/>
                <a:ea typeface="Noto Sans CJK KR"/>
              </a:rPr>
              <a:t>2</a:t>
            </a:r>
            <a:endParaRPr lang="ko-KR" sz="1300"/>
          </a:p>
        </p:txBody>
      </p:sp>
      <p:sp>
        <p:nvSpPr>
          <p:cNvPr id="1013" name="trial a"/>
          <p:cNvSpPr txBox="1"/>
          <p:nvPr/>
        </p:nvSpPr>
        <p:spPr>
          <a:xfrm>
            <a:off x="1140000" y="1840000"/>
            <a:ext cx="23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100" b="1">
                <a:solidFill>
                  <a:srgbClr val="14213D"/>
                </a:solidFill>
                <a:latin typeface="Noto Sans CJK KR"/>
                <a:ea typeface="Noto Sans CJK KR"/>
              </a:rPr>
              <a:t>시행착오: 지역명과 관광지명 입력이 섞임</a:t>
            </a:r>
            <a:endParaRPr lang="ko-KR" sz="1100"/>
          </a:p>
        </p:txBody>
      </p:sp>
      <p:sp>
        <p:nvSpPr>
          <p:cNvPr id="1014" name="trial b"/>
          <p:cNvSpPr txBox="1"/>
          <p:nvPr/>
        </p:nvSpPr>
        <p:spPr>
          <a:xfrm>
            <a:off x="3720000" y="1840000"/>
            <a:ext cx="26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100" b="1">
                <a:solidFill>
                  <a:srgbClr val="14213D"/>
                </a:solidFill>
                <a:latin typeface="Noto Sans CJK KR"/>
                <a:ea typeface="Noto Sans CJK KR"/>
              </a:rPr>
              <a:t>개선시도: 국문 관광정보 검색 + 지역 코드 lookup 설계</a:t>
            </a:r>
            <a:endParaRPr lang="ko-KR" sz="1100"/>
          </a:p>
        </p:txBody>
      </p:sp>
      <p:sp>
        <p:nvSpPr>
          <p:cNvPr id="1015" name="trial c"/>
          <p:cNvSpPr txBox="1"/>
          <p:nvPr/>
        </p:nvSpPr>
        <p:spPr>
          <a:xfrm>
            <a:off x="6520000" y="1840000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100" b="1">
                <a:solidFill>
                  <a:srgbClr val="14213D"/>
                </a:solidFill>
                <a:latin typeface="Noto Sans CJK KR"/>
                <a:ea typeface="Noto Sans CJK KR"/>
              </a:rPr>
              <a:t>개선결과: API 호출용 지역 코드 매핑 가능</a:t>
            </a:r>
            <a:endParaRPr lang="ko-KR" sz="1100"/>
          </a:p>
        </p:txBody>
      </p:sp>
      <p:sp>
        <p:nvSpPr>
          <p:cNvPr id="1016" name="row"/>
          <p:cNvSpPr/>
          <p:nvPr/>
        </p:nvSpPr>
        <p:spPr>
          <a:xfrm>
            <a:off x="520000" y="2540000"/>
            <a:ext cx="8100000" cy="68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17" name="row num"/>
          <p:cNvSpPr/>
          <p:nvPr/>
        </p:nvSpPr>
        <p:spPr>
          <a:xfrm>
            <a:off x="650000" y="2720000"/>
            <a:ext cx="330000" cy="33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18" name="row num t"/>
          <p:cNvSpPr txBox="1"/>
          <p:nvPr/>
        </p:nvSpPr>
        <p:spPr>
          <a:xfrm>
            <a:off x="650000" y="2770000"/>
            <a:ext cx="330000" cy="1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300" b="1">
                <a:solidFill>
                  <a:srgbClr val="FFFFFF"/>
                </a:solidFill>
                <a:latin typeface="Noto Sans CJK KR"/>
                <a:ea typeface="Noto Sans CJK KR"/>
              </a:rPr>
              <a:t>3</a:t>
            </a:r>
            <a:endParaRPr lang="ko-KR" sz="1300"/>
          </a:p>
        </p:txBody>
      </p:sp>
      <p:sp>
        <p:nvSpPr>
          <p:cNvPr id="1019" name="trial a"/>
          <p:cNvSpPr txBox="1"/>
          <p:nvPr/>
        </p:nvSpPr>
        <p:spPr>
          <a:xfrm>
            <a:off x="1140000" y="2660000"/>
            <a:ext cx="23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100" b="1">
                <a:solidFill>
                  <a:srgbClr val="14213D"/>
                </a:solidFill>
                <a:latin typeface="Noto Sans CJK KR"/>
                <a:ea typeface="Noto Sans CJK KR"/>
              </a:rPr>
              <a:t>시행착오: API별 코드 체계와 지표가 복잡함</a:t>
            </a:r>
            <a:endParaRPr lang="ko-KR" sz="1100"/>
          </a:p>
        </p:txBody>
      </p:sp>
      <p:sp>
        <p:nvSpPr>
          <p:cNvPr id="1020" name="trial b"/>
          <p:cNvSpPr txBox="1"/>
          <p:nvPr/>
        </p:nvSpPr>
        <p:spPr>
          <a:xfrm>
            <a:off x="3720000" y="2660000"/>
            <a:ext cx="26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100" b="1">
                <a:solidFill>
                  <a:srgbClr val="14213D"/>
                </a:solidFill>
                <a:latin typeface="Noto Sans CJK KR"/>
                <a:ea typeface="Noto Sans CJK KR"/>
              </a:rPr>
              <a:t>개선시도: 코드값 CSV를 엔노이아 문서 폴더용으로 정제</a:t>
            </a:r>
            <a:endParaRPr lang="ko-KR" sz="1100"/>
          </a:p>
        </p:txBody>
      </p:sp>
      <p:sp>
        <p:nvSpPr>
          <p:cNvPr id="1021" name="trial c"/>
          <p:cNvSpPr txBox="1"/>
          <p:nvPr/>
        </p:nvSpPr>
        <p:spPr>
          <a:xfrm>
            <a:off x="6520000" y="2660000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100" b="1">
                <a:solidFill>
                  <a:srgbClr val="14213D"/>
                </a:solidFill>
                <a:latin typeface="Noto Sans CJK KR"/>
                <a:ea typeface="Noto Sans CJK KR"/>
              </a:rPr>
              <a:t>개선결과: 챗봇이 코드값을 참조할 기반 마련</a:t>
            </a:r>
            <a:endParaRPr lang="ko-KR" sz="1100"/>
          </a:p>
        </p:txBody>
      </p:sp>
      <p:sp>
        <p:nvSpPr>
          <p:cNvPr id="1022" name="row"/>
          <p:cNvSpPr/>
          <p:nvPr/>
        </p:nvSpPr>
        <p:spPr>
          <a:xfrm>
            <a:off x="520000" y="3360000"/>
            <a:ext cx="8100000" cy="68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23" name="row num"/>
          <p:cNvSpPr/>
          <p:nvPr/>
        </p:nvSpPr>
        <p:spPr>
          <a:xfrm>
            <a:off x="650000" y="3540000"/>
            <a:ext cx="330000" cy="33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24" name="row num t"/>
          <p:cNvSpPr txBox="1"/>
          <p:nvPr/>
        </p:nvSpPr>
        <p:spPr>
          <a:xfrm>
            <a:off x="650000" y="3590000"/>
            <a:ext cx="330000" cy="13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300" b="1">
                <a:solidFill>
                  <a:srgbClr val="FFFFFF"/>
                </a:solidFill>
                <a:latin typeface="Noto Sans CJK KR"/>
                <a:ea typeface="Noto Sans CJK KR"/>
              </a:rPr>
              <a:t>4</a:t>
            </a:r>
            <a:endParaRPr lang="ko-KR" sz="1300"/>
          </a:p>
        </p:txBody>
      </p:sp>
      <p:sp>
        <p:nvSpPr>
          <p:cNvPr id="1025" name="trial a"/>
          <p:cNvSpPr txBox="1"/>
          <p:nvPr/>
        </p:nvSpPr>
        <p:spPr>
          <a:xfrm>
            <a:off x="1140000" y="3480000"/>
            <a:ext cx="23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100" b="1">
                <a:solidFill>
                  <a:srgbClr val="14213D"/>
                </a:solidFill>
                <a:latin typeface="Noto Sans CJK KR"/>
                <a:ea typeface="Noto Sans CJK KR"/>
              </a:rPr>
              <a:t>시행착오: 추천이 과장될 위험이 있음</a:t>
            </a:r>
            <a:endParaRPr lang="ko-KR" sz="1100"/>
          </a:p>
        </p:txBody>
      </p:sp>
      <p:sp>
        <p:nvSpPr>
          <p:cNvPr id="1026" name="trial b"/>
          <p:cNvSpPr txBox="1"/>
          <p:nvPr/>
        </p:nvSpPr>
        <p:spPr>
          <a:xfrm>
            <a:off x="3720000" y="3480000"/>
            <a:ext cx="265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100" b="1">
                <a:solidFill>
                  <a:srgbClr val="14213D"/>
                </a:solidFill>
                <a:latin typeface="Noto Sans CJK KR"/>
                <a:ea typeface="Noto Sans CJK KR"/>
              </a:rPr>
              <a:t>개선시도: 프롬프트에 금지사항과 데이터 한계 명시</a:t>
            </a:r>
            <a:endParaRPr lang="ko-KR" sz="1100"/>
          </a:p>
        </p:txBody>
      </p:sp>
      <p:sp>
        <p:nvSpPr>
          <p:cNvPr id="1027" name="trial c"/>
          <p:cNvSpPr txBox="1"/>
          <p:nvPr/>
        </p:nvSpPr>
        <p:spPr>
          <a:xfrm>
            <a:off x="6520000" y="3480000"/>
            <a:ext cx="20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100" b="1">
                <a:solidFill>
                  <a:srgbClr val="14213D"/>
                </a:solidFill>
                <a:latin typeface="Noto Sans CJK KR"/>
                <a:ea typeface="Noto Sans CJK KR"/>
              </a:rPr>
              <a:t>개선결과: 리스크와 추가 확인사항 포함</a:t>
            </a:r>
            <a:endParaRPr lang="ko-KR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41" name="Google Shape;241;p25"/>
          <p:cNvCxnSpPr/>
          <p:nvPr/>
        </p:nvCxnSpPr>
        <p:spPr>
          <a:xfrm>
            <a:off x="270000" y="429333"/>
            <a:ext cx="8621400" cy="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25"/>
          <p:cNvSpPr txBox="1"/>
          <p:nvPr/>
        </p:nvSpPr>
        <p:spPr>
          <a:xfrm>
            <a:off x="270000" y="255665"/>
            <a:ext cx="6079800" cy="107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r>
              <a:rPr lang="ko" sz="700">
                <a:solidFill>
                  <a:srgbClr val="939393"/>
                </a:solidFill>
                <a:latin typeface="Gothic A1"/>
                <a:ea typeface="Gothic A1"/>
                <a:cs typeface="Gothic A1"/>
                <a:sym typeface="Gothic A1"/>
              </a:rPr>
              <a:t/>
            </a:r>
            <a:endParaRPr sz="700">
              <a:solidFill>
                <a:srgbClr val="939393"/>
              </a:solidFill>
              <a:latin typeface="Gothic A1"/>
              <a:ea typeface="Gothic A1"/>
              <a:cs typeface="Gothic A1"/>
              <a:sym typeface="Gothic A1"/>
            </a:endParaRPr>
          </a:p>
        </p:txBody>
      </p:sp>
      <p:sp>
        <p:nvSpPr>
          <p:cNvPr id="243" name="Google Shape;243;p25"/>
          <p:cNvSpPr txBox="1"/>
          <p:nvPr/>
        </p:nvSpPr>
        <p:spPr>
          <a:xfrm>
            <a:off x="236413" y="7961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2000">
                <a:solidFill>
                  <a:srgbClr val="0066F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2000">
              <a:solidFill>
                <a:srgbClr val="0066FF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cxnSp>
        <p:nvCxnSpPr>
          <p:cNvPr id="244" name="Google Shape;244;p25"/>
          <p:cNvCxnSpPr/>
          <p:nvPr/>
        </p:nvCxnSpPr>
        <p:spPr>
          <a:xfrm rot="10800000">
            <a:off x="4580700" y="1484698"/>
            <a:ext cx="0" cy="3298200"/>
          </a:xfrm>
          <a:prstGeom prst="straightConnector1">
            <a:avLst/>
          </a:prstGeom>
          <a:noFill/>
          <a:ln cap="flat" cmpd="sng" w="9525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5" name="Google Shape;245;p25"/>
          <p:cNvSpPr txBox="1"/>
          <p:nvPr/>
        </p:nvSpPr>
        <p:spPr>
          <a:xfrm>
            <a:off x="236413" y="16666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6" name="Google Shape;246;p25"/>
          <p:cNvSpPr txBox="1"/>
          <p:nvPr/>
        </p:nvSpPr>
        <p:spPr>
          <a:xfrm>
            <a:off x="236425" y="2173850"/>
            <a:ext cx="4269300" cy="218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○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○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○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○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7" name="Google Shape;247;p25"/>
          <p:cNvSpPr txBox="1"/>
          <p:nvPr/>
        </p:nvSpPr>
        <p:spPr>
          <a:xfrm>
            <a:off x="4791178" y="1666641"/>
            <a:ext cx="42087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ko" sz="17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b="1" sz="17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248" name="Google Shape;248;p25"/>
          <p:cNvSpPr txBox="1"/>
          <p:nvPr/>
        </p:nvSpPr>
        <p:spPr>
          <a:xfrm>
            <a:off x="4791191" y="2173850"/>
            <a:ext cx="4269300" cy="102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/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2385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oto Sans KR"/>
              <a:buChar char="●"/>
            </a:pPr>
            <a:r>
              <a:rPr lang="ko" sz="1500"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sz="1500"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01" name="accent bar"/>
          <p:cNvSpPr/>
          <p:nvPr/>
        </p:nvSpPr>
        <p:spPr>
          <a:xfrm>
            <a:off x="270000" y="225000"/>
            <a:ext cx="90000" cy="3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2" name="title"/>
          <p:cNvSpPr txBox="1"/>
          <p:nvPr/>
        </p:nvSpPr>
        <p:spPr>
          <a:xfrm>
            <a:off x="420000" y="230000"/>
            <a:ext cx="5200000" cy="36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2000" b="1">
                <a:solidFill>
                  <a:srgbClr val="14213D"/>
                </a:solidFill>
                <a:latin typeface="Noto Sans CJK KR"/>
                <a:ea typeface="Noto Sans CJK KR"/>
              </a:rPr>
              <a:t>우리 팀 서비스를 마무리하며</a:t>
            </a:r>
            <a:endParaRPr lang="ko-KR" sz="2000"/>
          </a:p>
        </p:txBody>
      </p:sp>
      <p:sp>
        <p:nvSpPr>
          <p:cNvPr id="1003" name="kicker"/>
          <p:cNvSpPr txBox="1"/>
          <p:nvPr/>
        </p:nvSpPr>
        <p:spPr>
          <a:xfrm>
            <a:off x="7350000" y="245000"/>
            <a:ext cx="1550000" cy="24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r"/>
            <a:r>
              <a:rPr lang="ko-KR" sz="1000">
                <a:solidFill>
                  <a:srgbClr val="4B5563"/>
                </a:solidFill>
                <a:latin typeface="Noto Sans CJK KR"/>
                <a:ea typeface="Noto Sans CJK KR"/>
              </a:rPr>
              <a:t>기대효과</a:t>
            </a:r>
            <a:endParaRPr lang="ko-KR" sz="1000"/>
          </a:p>
        </p:txBody>
      </p:sp>
      <p:sp>
        <p:nvSpPr>
          <p:cNvPr id="1004" name="card"/>
          <p:cNvSpPr/>
          <p:nvPr/>
        </p:nvSpPr>
        <p:spPr>
          <a:xfrm>
            <a:off x="480000" y="880000"/>
            <a:ext cx="2600000" cy="17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5" name="card accent"/>
          <p:cNvSpPr/>
          <p:nvPr/>
        </p:nvSpPr>
        <p:spPr>
          <a:xfrm>
            <a:off x="480000" y="880000"/>
            <a:ext cx="70000" cy="1700000"/>
          </a:xfrm>
          <a:prstGeom prst="rect">
            <a:avLst/>
          </a:prstGeom>
          <a:solidFill>
            <a:srgbClr val="0F766E"/>
          </a:solidFill>
          <a:ln w="9000">
            <a:solidFill>
              <a:srgbClr val="0F766E"/>
            </a:solidFill>
          </a:ln>
        </p:spPr>
      </p:sp>
      <p:sp>
        <p:nvSpPr>
          <p:cNvPr id="1006" name="card title"/>
          <p:cNvSpPr txBox="1"/>
          <p:nvPr/>
        </p:nvSpPr>
        <p:spPr>
          <a:xfrm>
            <a:off x="640000" y="1010000"/>
            <a:ext cx="23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제품 관점</a:t>
            </a:r>
            <a:endParaRPr lang="ko-KR" sz="1500"/>
          </a:p>
        </p:txBody>
      </p:sp>
      <p:sp>
        <p:nvSpPr>
          <p:cNvPr id="1007" name="card body"/>
          <p:cNvSpPr txBox="1"/>
          <p:nvPr/>
        </p:nvSpPr>
        <p:spPr>
          <a:xfrm>
            <a:off x="640000" y="1390000"/>
            <a:ext cx="23500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예비창업자가 지역 후보와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창업 아이템을 빠르게 검토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공공데이터 기반 미니 리포트 생성</a:t>
            </a:r>
            <a:endParaRPr lang="ko-KR" sz="1200"/>
          </a:p>
        </p:txBody>
      </p:sp>
      <p:sp>
        <p:nvSpPr>
          <p:cNvPr id="1008" name="card"/>
          <p:cNvSpPr/>
          <p:nvPr/>
        </p:nvSpPr>
        <p:spPr>
          <a:xfrm>
            <a:off x="3260000" y="880000"/>
            <a:ext cx="2600000" cy="17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09" name="card accent"/>
          <p:cNvSpPr/>
          <p:nvPr/>
        </p:nvSpPr>
        <p:spPr>
          <a:xfrm>
            <a:off x="3260000" y="880000"/>
            <a:ext cx="70000" cy="1700000"/>
          </a:xfrm>
          <a:prstGeom prst="rect">
            <a:avLst/>
          </a:prstGeom>
          <a:solidFill>
            <a:srgbClr val="1D4ED8"/>
          </a:solidFill>
          <a:ln w="9000">
            <a:solidFill>
              <a:srgbClr val="1D4ED8"/>
            </a:solidFill>
          </a:ln>
        </p:spPr>
      </p:sp>
      <p:sp>
        <p:nvSpPr>
          <p:cNvPr id="1010" name="card title"/>
          <p:cNvSpPr txBox="1"/>
          <p:nvPr/>
        </p:nvSpPr>
        <p:spPr>
          <a:xfrm>
            <a:off x="3420000" y="1010000"/>
            <a:ext cx="23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사업 관점</a:t>
            </a:r>
            <a:endParaRPr lang="ko-KR" sz="1500"/>
          </a:p>
        </p:txBody>
      </p:sp>
      <p:sp>
        <p:nvSpPr>
          <p:cNvPr id="1011" name="card body"/>
          <p:cNvSpPr txBox="1"/>
          <p:nvPr/>
        </p:nvSpPr>
        <p:spPr>
          <a:xfrm>
            <a:off x="3420000" y="1390000"/>
            <a:ext cx="23500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소상공인, 로컬 창업자,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지자체 창업 지원 프로그램에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확장 가능</a:t>
            </a:r>
            <a:endParaRPr lang="ko-KR" sz="1200"/>
          </a:p>
        </p:txBody>
      </p:sp>
      <p:sp>
        <p:nvSpPr>
          <p:cNvPr id="1012" name="card"/>
          <p:cNvSpPr/>
          <p:nvPr/>
        </p:nvSpPr>
        <p:spPr>
          <a:xfrm>
            <a:off x="6040000" y="880000"/>
            <a:ext cx="2600000" cy="1700000"/>
          </a:xfrm>
          <a:prstGeom prst="rect">
            <a:avLst/>
          </a:prstGeom>
          <a:solidFill>
            <a:srgbClr val="FFFFFF"/>
          </a:solidFill>
          <a:ln w="9000">
            <a:solidFill>
              <a:srgbClr val="D6DEE8"/>
            </a:solidFill>
          </a:ln>
        </p:spPr>
      </p:sp>
      <p:sp>
        <p:nvSpPr>
          <p:cNvPr id="1013" name="card accent"/>
          <p:cNvSpPr/>
          <p:nvPr/>
        </p:nvSpPr>
        <p:spPr>
          <a:xfrm>
            <a:off x="6040000" y="880000"/>
            <a:ext cx="70000" cy="1700000"/>
          </a:xfrm>
          <a:prstGeom prst="rect">
            <a:avLst/>
          </a:prstGeom>
          <a:solidFill>
            <a:srgbClr val="166534"/>
          </a:solidFill>
          <a:ln w="9000">
            <a:solidFill>
              <a:srgbClr val="166534"/>
            </a:solidFill>
          </a:ln>
        </p:spPr>
      </p:sp>
      <p:sp>
        <p:nvSpPr>
          <p:cNvPr id="1014" name="card title"/>
          <p:cNvSpPr txBox="1"/>
          <p:nvPr/>
        </p:nvSpPr>
        <p:spPr>
          <a:xfrm>
            <a:off x="6200000" y="1010000"/>
            <a:ext cx="2350000" cy="2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500" b="1">
                <a:solidFill>
                  <a:srgbClr val="14213D"/>
                </a:solidFill>
                <a:latin typeface="Noto Sans CJK KR"/>
                <a:ea typeface="Noto Sans CJK KR"/>
              </a:rPr>
              <a:t>기술 관점</a:t>
            </a:r>
            <a:endParaRPr lang="ko-KR" sz="1500"/>
          </a:p>
        </p:txBody>
      </p:sp>
      <p:sp>
        <p:nvSpPr>
          <p:cNvPr id="1015" name="card body"/>
          <p:cNvSpPr txBox="1"/>
          <p:nvPr/>
        </p:nvSpPr>
        <p:spPr>
          <a:xfrm>
            <a:off x="6200000" y="1390000"/>
            <a:ext cx="2350000" cy="10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OpenAPI와 생성형 AI를 결합해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관광 데이터를 의사결정 보조</a:t>
            </a:r>
            <a:endParaRPr lang="ko-KR" sz="1200"/>
          </a:p>
          <a:p>
            <a:r>
              <a:rPr lang="ko-KR" sz="1200">
                <a:solidFill>
                  <a:srgbClr val="4B5563"/>
                </a:solidFill>
                <a:latin typeface="Noto Sans CJK KR"/>
                <a:ea typeface="Noto Sans CJK KR"/>
              </a:rPr>
              <a:t>리포트로 변환</a:t>
            </a:r>
            <a:endParaRPr lang="ko-KR" sz="1200"/>
          </a:p>
        </p:txBody>
      </p:sp>
      <p:sp>
        <p:nvSpPr>
          <p:cNvPr id="1016" name="plan"/>
          <p:cNvSpPr/>
          <p:nvPr/>
        </p:nvSpPr>
        <p:spPr>
          <a:xfrm>
            <a:off x="650000" y="3100000"/>
            <a:ext cx="7900000" cy="560000"/>
          </a:xfrm>
          <a:prstGeom prst="rect">
            <a:avLst/>
          </a:prstGeom>
          <a:solidFill>
            <a:srgbClr val="DBEAFE"/>
          </a:solidFill>
          <a:ln w="9000">
            <a:solidFill>
              <a:srgbClr val="DBEAFE"/>
            </a:solidFill>
          </a:ln>
        </p:spPr>
      </p:sp>
      <p:sp>
        <p:nvSpPr>
          <p:cNvPr id="1017" name="plan text"/>
          <p:cNvSpPr txBox="1"/>
          <p:nvPr/>
        </p:nvSpPr>
        <p:spPr>
          <a:xfrm>
            <a:off x="900000" y="3260000"/>
            <a:ext cx="7400000" cy="22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300" b="1">
                <a:solidFill>
                  <a:srgbClr val="14213D"/>
                </a:solidFill>
                <a:latin typeface="Noto Sans CJK KR"/>
                <a:ea typeface="Noto Sans CJK KR"/>
              </a:rPr>
              <a:t>발전계획: 지역 간 비교, 업종별 리포트, 지도 기반 관광 동선 시각화, 창업 체크리스트 자동 생성</a:t>
            </a:r>
            <a:endParaRPr lang="ko-KR" sz="1300"/>
          </a:p>
        </p:txBody>
      </p:sp>
      <p:sp>
        <p:nvSpPr>
          <p:cNvPr id="1018" name="feel"/>
          <p:cNvSpPr/>
          <p:nvPr/>
        </p:nvSpPr>
        <p:spPr>
          <a:xfrm>
            <a:off x="650000" y="3900000"/>
            <a:ext cx="7900000" cy="520000"/>
          </a:xfrm>
          <a:prstGeom prst="rect">
            <a:avLst/>
          </a:prstGeom>
          <a:solidFill>
            <a:srgbClr val="EEF2F7"/>
          </a:solidFill>
          <a:ln w="9000">
            <a:solidFill>
              <a:srgbClr val="D6DEE8"/>
            </a:solidFill>
          </a:ln>
        </p:spPr>
      </p:sp>
      <p:sp>
        <p:nvSpPr>
          <p:cNvPr id="1019" name="feel text"/>
          <p:cNvSpPr txBox="1"/>
          <p:nvPr/>
        </p:nvSpPr>
        <p:spPr>
          <a:xfrm>
            <a:off x="900000" y="4060000"/>
            <a:ext cx="7400000" cy="180000"/>
          </a:xfrm>
          <a:prstGeom prst="rect">
            <a:avLst/>
          </a:prstGeom>
          <a:noFill/>
          <a:ln>
            <a:noFill/>
          </a:ln>
        </p:spPr>
        <p:txBody>
          <a:bodyPr wrap="square" anchor="t"/>
          <a:lstStyle/>
          <a:p>
            <a:pPr algn="ctr"/>
            <a:r>
              <a:rPr lang="ko-KR" sz="1300">
                <a:solidFill>
                  <a:srgbClr val="4B5563"/>
                </a:solidFill>
                <a:latin typeface="Noto Sans CJK KR"/>
                <a:ea typeface="Noto Sans CJK KR"/>
              </a:rPr>
              <a:t>팀 소감 또는 생성형 AI 사용 후기 추가 입력 영역</a:t>
            </a:r>
            <a:endParaRPr lang="ko-KR" sz="13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